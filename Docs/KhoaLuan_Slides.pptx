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Số kịch bản</c:v>
                </c:pt>
              </c:strCache>
            </c:strRef>
          </c:tx>
          <c:spPr>
            <a:solidFill>
              <a:srgbClr val="2072B7"/>
            </a:solidFill>
          </c:spPr>
          <c:cat>
            <c:strRef>
              <c:f>Sheet1!$A$2:$A$8</c:f>
              <c:strCache>
                <c:ptCount val="7"/>
                <c:pt idx="0">
                  <c:v>Đặt hàng</c:v>
                </c:pt>
                <c:pt idx="1">
                  <c:v>Thanh toán, khuyến mãi</c:v>
                </c:pt>
                <c:pt idx="2">
                  <c:v>Gian hàng</c:v>
                </c:pt>
                <c:pt idx="3">
                  <c:v>Tài xế</c:v>
                </c:pt>
                <c:pt idx="4">
                  <c:v>Duyệt gian hàng</c:v>
                </c:pt>
                <c:pt idx="5">
                  <c:v>Xác thực, phân quyền</c:v>
                </c:pt>
                <c:pt idx="6">
                  <c:v>Chức năng khách bổ sung</c:v>
                </c:pt>
              </c:strCache>
            </c:strRef>
          </c:cat>
          <c:val>
            <c:numRef>
              <c:f>Sheet1!$B$2:$B$8</c:f>
              <c:numCache>
                <c:formatCode>General</c:formatCode>
                <c:ptCount val="7"/>
                <c:pt idx="0">
                  <c:v>6</c:v>
                </c:pt>
                <c:pt idx="1">
                  <c:v>8</c:v>
                </c:pt>
                <c:pt idx="2">
                  <c:v>8</c:v>
                </c:pt>
                <c:pt idx="3">
                  <c:v>5</c:v>
                </c:pt>
                <c:pt idx="4">
                  <c:v>4</c:v>
                </c:pt>
                <c:pt idx="5">
                  <c:v>6</c:v>
                </c:pt>
                <c:pt idx="6">
                  <c:v>12</c:v>
                </c:pt>
              </c:numCache>
            </c:numRef>
          </c:val>
        </c:ser>
        <c:dLbls>
          <c:txPr>
            <a:bodyPr/>
            <a:lstStyle/>
            <a:p>
              <a:pPr>
                <a:defRPr sz="1400" b="1">
                  <a:solidFill>
                    <a:srgbClr val="1F2A37"/>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3E1F0"/>
            </a:solidFill>
          </a:ln>
        </c:spPr>
        <c:txPr>
          <a:bodyPr/>
          <a:lstStyle/>
          <a:p>
            <a:pPr>
              <a:defRPr sz="1300"/>
            </a:pPr>
          </a:p>
        </c:txPr>
        <c:crossAx val="-2113994440"/>
        <c:crosses val="autoZero"/>
        <c:auto val="1"/>
        <c:lblAlgn val="ctr"/>
        <c:lblOffset val="100"/>
        <c:noMultiLvlLbl val="0"/>
      </c:catAx>
      <c:valAx>
        <c:axId val="-2113994440"/>
        <c:scaling>
          <c:max val="1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quý thầy cô. Nhóm em xin trình bày khóa luận "Xây dựng ứng dụng quản lý dịch vụ ăn uống" do ThS. Dương Thị Mộng Thùy hướng dẫn. Bài trình bày gồm 5 phần: đặt vấn đề, phân tích thiết kế, cài đặt, kiểm thử triển khai và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nhanh bố cục 5 phần của bài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bối cảnh nhu cầu đặt món trực tuyến, khó khăn của gian hàng nhỏ và mục tiêu xây dựng một nền tảng kết nối bốn nhóm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có 4 nhóm người dùng. Nhấn mạnh luồng duyệt: gian hàng và tài xế phải được quản trị viên duyệt trước khi hoạt động.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Khảo sát hiện trạng, mô hình hóa 10 quy trình nghiệp vụ, đặc tả 17 use case ở Chương 2 và đặc tả chi tiết thêm use case của tài xế, quản trị viên.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ba tầng. Website và API nằm chung một dự án ASP.NET Core nên dùng chung nghiệp vụ và cơ sở dữ liệu; VNPay và Goong Maps là dịch vụ bên ngoài.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Toàn bộ hệ thống dùng hệ sinh thái .NET 8 và SQL Server. Mật khẩu băm BCrypt; website xác thực cookie, API xác thực JWT.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Cơ sở dữ liệu QuanLyDichVuAnUong gồm 16 bảng chia 4 nhóm. Tạo bằng file MotFileDuyNhat.sql kèm dữ liệu mẫu; có script nâng cấp cho CSDL cũ.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tả luồng trạng thái đơn: ai chuyển trạng thái nào. Khách chỉ tự hủy khi còn Chờ xác nhận; đơn đã thanh toán trực tuyến bị hủy sẽ được đánh dấu Đã hoàn tiền để đối soát.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màn hình tiêu biểu theo đúng trình tự mua hàng. Đây là bản thiết kế giao diện dùng chung bảng màu với website.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màn hình tiêu biểu của gian hàng: xử lý đơn theo trạng thái, quản lý thực đơn và báo cáo doanh thu theo ngày.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kỹ thuật chính trong mã nguồn: phí giao hàng theo khoảng cách, kiểm tra mã khuyến mãi, xác thực chữ ký VNPay và băm mật khẩu BCrypt.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chức năng bổ sung giúp hoàn thiện nhóm chức năng mua hàng theo đề cương: tìm theo món, trang chi tiết món, đánh giá từng món, sổ địa chỉ, phản hồi và theo dõi đơn có thanh tiến trình.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49 kịch bản chia thành 7 nhóm. Cần nói rõ: kết quả hiện là rà soát và truy vết mã nguồn, chưa phải chạy kiểm thử tự động; kiểm thử đơn vị và chịu tải là hướng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bước triển khai. Hiện nhóm chưa triển khai lên máy chủ thật; cần thay khóa JWT, VNPay và Goong Maps mẫu bằng khóa thật trước khi vận hành.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đề cương: nhóm chức năng trên website hoàn thành; hai chỗ hoàn thành một phần là Momo và ứng dụng di động của khách hàng; các hạn chế còn lại nêu trung thực.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hướng ưu tiên: hoàn thiện mobile cho khách hàng, thêm cổng thanh toán và hoàn tiền tự động, nâng chất lượng kỹ thuật, và các tính năng mới như chia sẻ doanh thu, gợi ý món.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quý thầy cô. Nhóm em sẵn sàng trả lời các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FA5C7D-F076-ABAB-28ED-936E6476926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12" name="Rectangle 11">
            <a:extLst>
              <a:ext uri="{FF2B5EF4-FFF2-40B4-BE49-F238E27FC236}">
                <a16:creationId xmlns:a16="http://schemas.microsoft.com/office/drawing/2014/main" id="{76CBF138-DDAA-03AE-2BFD-F0E6E77D089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7" name="Picture 16">
            <a:extLst>
              <a:ext uri="{FF2B5EF4-FFF2-40B4-BE49-F238E27FC236}">
                <a16:creationId xmlns:a16="http://schemas.microsoft.com/office/drawing/2014/main" id="{A6B26E30-45B4-E434-42E3-BFE66D53EB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6" name="Slide Number Placeholder 5"/>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5" name="TextBox 14">
            <a:extLst>
              <a:ext uri="{FF2B5EF4-FFF2-40B4-BE49-F238E27FC236}">
                <a16:creationId xmlns:a16="http://schemas.microsoft.com/office/drawing/2014/main" id="{EF8EE5A3-86BB-B40C-62D9-2E005424811B}"/>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20" name="Picture 19" descr="A building with trees in the background&#10;&#10;Description automatically generated">
            <a:extLst>
              <a:ext uri="{FF2B5EF4-FFF2-40B4-BE49-F238E27FC236}">
                <a16:creationId xmlns:a16="http://schemas.microsoft.com/office/drawing/2014/main" id="{633C415B-DE87-6E90-4B13-A134B02EF4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 y="5045074"/>
            <a:ext cx="12202160" cy="1676400"/>
          </a:xfrm>
          <a:prstGeom prst="rect">
            <a:avLst/>
          </a:prstGeom>
        </p:spPr>
      </p:pic>
      <p:sp>
        <p:nvSpPr>
          <p:cNvPr id="21" name="TextBox 20">
            <a:extLst>
              <a:ext uri="{FF2B5EF4-FFF2-40B4-BE49-F238E27FC236}">
                <a16:creationId xmlns:a16="http://schemas.microsoft.com/office/drawing/2014/main" id="{C088D834-70EE-F737-6AE1-030852F6AA55}"/>
              </a:ext>
            </a:extLst>
          </p:cNvPr>
          <p:cNvSpPr txBox="1"/>
          <p:nvPr userDrawn="1"/>
        </p:nvSpPr>
        <p:spPr>
          <a:xfrm>
            <a:off x="2545718" y="32083"/>
            <a:ext cx="7090403" cy="646331"/>
          </a:xfrm>
          <a:prstGeom prst="rect">
            <a:avLst/>
          </a:prstGeom>
          <a:noFill/>
        </p:spPr>
        <p:txBody>
          <a:bodyPr wrap="none" rtlCol="0">
            <a:spAutoFit/>
          </a:bodyPr>
          <a:lstStyle/>
          <a:p>
            <a:pPr algn="ctr"/>
            <a:r>
              <a:rPr lang="en-US" sz="1800">
                <a:solidFill>
                  <a:schemeClr val="bg1"/>
                </a:solidFill>
                <a:latin typeface="Arial" panose="020B0604020202020204" pitchFamily="34" charset="0"/>
                <a:cs typeface="Arial" panose="020B0604020202020204" pitchFamily="34" charset="0"/>
              </a:rPr>
              <a:t>BỘ CÔNG THƯƠNG</a:t>
            </a:r>
          </a:p>
          <a:p>
            <a:pPr algn="ctr"/>
            <a:r>
              <a:rPr lang="en-US" sz="1800" b="1">
                <a:solidFill>
                  <a:schemeClr val="bg1"/>
                </a:solidFill>
                <a:latin typeface="Arial" panose="020B0604020202020204" pitchFamily="34" charset="0"/>
                <a:cs typeface="Arial" panose="020B0604020202020204" pitchFamily="34" charset="0"/>
              </a:rPr>
              <a:t>TRƯỜNG ĐẠI HỌC CÔNG THƯƠNG THÀNH PHỐ HỒ CHÍ MINH</a:t>
            </a:r>
            <a:endParaRPr lang="en-VN" sz="1800" b="1">
              <a:solidFill>
                <a:schemeClr val="bg1"/>
              </a:solidFill>
              <a:latin typeface="Arial" panose="020B0604020202020204" pitchFamily="34" charset="0"/>
              <a:cs typeface="Arial" panose="020B0604020202020204" pitchFamily="34" charset="0"/>
            </a:endParaRPr>
          </a:p>
        </p:txBody>
      </p:sp>
      <p:pic>
        <p:nvPicPr>
          <p:cNvPr id="23" name="Picture 22" descr="A white circle with blue and red text and a book with a graduation cap&#10;&#10;Description automatically generated">
            <a:extLst>
              <a:ext uri="{FF2B5EF4-FFF2-40B4-BE49-F238E27FC236}">
                <a16:creationId xmlns:a16="http://schemas.microsoft.com/office/drawing/2014/main" id="{CC7CB636-E017-BD51-B7F7-2797B5CEAFFA}"/>
              </a:ext>
            </a:extLst>
          </p:cNvPr>
          <p:cNvPicPr>
            <a:picLocks/>
          </p:cNvPicPr>
          <p:nvPr userDrawn="1"/>
        </p:nvPicPr>
        <p:blipFill>
          <a:blip r:embed="rId4" cstate="screen">
            <a:extLst>
              <a:ext uri="{28A0092B-C50C-407E-A947-70E740481C1C}">
                <a14:useLocalDpi xmlns:a14="http://schemas.microsoft.com/office/drawing/2010/main"/>
              </a:ext>
            </a:extLst>
          </a:blip>
          <a:stretch>
            <a:fillRect/>
          </a:stretch>
        </p:blipFill>
        <p:spPr>
          <a:xfrm>
            <a:off x="356133" y="18061"/>
            <a:ext cx="666000" cy="666000"/>
          </a:xfrm>
          <a:prstGeom prst="rect">
            <a:avLst/>
          </a:prstGeom>
        </p:spPr>
      </p:pic>
    </p:spTree>
    <p:extLst>
      <p:ext uri="{BB962C8B-B14F-4D97-AF65-F5344CB8AC3E}">
        <p14:creationId xmlns:p14="http://schemas.microsoft.com/office/powerpoint/2010/main" val="240806491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D56CA0-7F99-A73F-EC74-87E2C37C45F8}"/>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5"/>
            <a:ext cx="10515600" cy="806384"/>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ack background with white text&#10;&#10;Description automatically generated">
            <a:extLst>
              <a:ext uri="{FF2B5EF4-FFF2-40B4-BE49-F238E27FC236}">
                <a16:creationId xmlns:a16="http://schemas.microsoft.com/office/drawing/2014/main" id="{636941E3-E3EC-8EF3-53CB-96FCF404C8E3}"/>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
        <p:nvSpPr>
          <p:cNvPr id="11" name="Rectangle 11">
            <a:extLst>
              <a:ext uri="{FF2B5EF4-FFF2-40B4-BE49-F238E27FC236}">
                <a16:creationId xmlns:a16="http://schemas.microsoft.com/office/drawing/2014/main" id="{D433E92D-1893-9769-8444-34EEDD3F24BC}"/>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2" name="Picture 11">
            <a:extLst>
              <a:ext uri="{FF2B5EF4-FFF2-40B4-BE49-F238E27FC236}">
                <a16:creationId xmlns:a16="http://schemas.microsoft.com/office/drawing/2014/main" id="{2550C907-0A3F-10BA-C15C-CA461460FE9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3" name="Slide Number Placeholder 5">
            <a:extLst>
              <a:ext uri="{FF2B5EF4-FFF2-40B4-BE49-F238E27FC236}">
                <a16:creationId xmlns:a16="http://schemas.microsoft.com/office/drawing/2014/main" id="{FB4E7459-A8A2-5081-F907-74BAE4176EAC}"/>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4" name="TextBox 13">
            <a:extLst>
              <a:ext uri="{FF2B5EF4-FFF2-40B4-BE49-F238E27FC236}">
                <a16:creationId xmlns:a16="http://schemas.microsoft.com/office/drawing/2014/main" id="{920F50DE-1588-0A68-B2AE-03A7C3A9B079}"/>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spTree>
    <p:extLst>
      <p:ext uri="{BB962C8B-B14F-4D97-AF65-F5344CB8AC3E}">
        <p14:creationId xmlns:p14="http://schemas.microsoft.com/office/powerpoint/2010/main" val="2104413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Rectangle 6">
            <a:extLst>
              <a:ext uri="{FF2B5EF4-FFF2-40B4-BE49-F238E27FC236}">
                <a16:creationId xmlns:a16="http://schemas.microsoft.com/office/drawing/2014/main" id="{BFDCC048-85E1-D9DE-466A-D5EAB21DAFC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9" name="Rectangle 11">
            <a:extLst>
              <a:ext uri="{FF2B5EF4-FFF2-40B4-BE49-F238E27FC236}">
                <a16:creationId xmlns:a16="http://schemas.microsoft.com/office/drawing/2014/main" id="{0547C463-86A8-9ADB-B42F-6F8F911146A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DC2EE3A5-6242-A6B2-F6B4-2094B545F5E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A9473FA4-C6C6-7E97-AACE-A35CFDAB768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2" name="TextBox 11">
            <a:extLst>
              <a:ext uri="{FF2B5EF4-FFF2-40B4-BE49-F238E27FC236}">
                <a16:creationId xmlns:a16="http://schemas.microsoft.com/office/drawing/2014/main" id="{5C851853-8430-FC7D-0C05-EA3095D410B2}"/>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6" name="Picture 5" descr="A black background with white text&#10;&#10;Description automatically generated">
            <a:extLst>
              <a:ext uri="{FF2B5EF4-FFF2-40B4-BE49-F238E27FC236}">
                <a16:creationId xmlns:a16="http://schemas.microsoft.com/office/drawing/2014/main" id="{A632828F-0B4F-8119-5B19-088A1173C90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441944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77EE82EC-C435-7D46-EFDD-D5C6A244EEA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977329"/>
            <a:ext cx="10515600" cy="713361"/>
          </a:xfrm>
        </p:spPr>
        <p:txBody>
          <a:bodyPr/>
          <a:lstStyle/>
          <a:p>
            <a:r>
              <a:rPr lang="en-US" dirty="0"/>
              <a:t>Click to edit Master title style</a:t>
            </a:r>
          </a:p>
        </p:txBody>
      </p:sp>
      <p:sp>
        <p:nvSpPr>
          <p:cNvPr id="10" name="Rectangle 11">
            <a:extLst>
              <a:ext uri="{FF2B5EF4-FFF2-40B4-BE49-F238E27FC236}">
                <a16:creationId xmlns:a16="http://schemas.microsoft.com/office/drawing/2014/main" id="{CE50E531-FF89-E7A1-EC42-5664726867C2}"/>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9A4D41C0-EECC-510F-3124-F7EBC163F8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41F0268C-2917-2762-4664-C6ACF3587D3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FC7AE9E0-DBEB-84FF-4DC2-C53AC3C7993F}"/>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F93BE15D-74FA-AED7-3D2B-A613D05E679B}"/>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335458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6BA13BF4-06A1-B98B-FD59-CA5020C120F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866777"/>
            <a:ext cx="10515600" cy="823912"/>
          </a:xfrm>
        </p:spPr>
        <p:txBody>
          <a:bodyPr/>
          <a:lstStyle/>
          <a:p>
            <a:r>
              <a:rPr lang="en-US" dirty="0"/>
              <a:t>Click to edit Master title style</a:t>
            </a:r>
          </a:p>
        </p:txBody>
      </p:sp>
      <p:sp>
        <p:nvSpPr>
          <p:cNvPr id="12" name="Rectangle 11">
            <a:extLst>
              <a:ext uri="{FF2B5EF4-FFF2-40B4-BE49-F238E27FC236}">
                <a16:creationId xmlns:a16="http://schemas.microsoft.com/office/drawing/2014/main" id="{228D1E83-C000-B443-17A1-67E172C1C81A}"/>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3" name="Picture 12">
            <a:extLst>
              <a:ext uri="{FF2B5EF4-FFF2-40B4-BE49-F238E27FC236}">
                <a16:creationId xmlns:a16="http://schemas.microsoft.com/office/drawing/2014/main" id="{E4F5B01C-A4C1-2548-9E99-49DA8F4F39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4" name="Slide Number Placeholder 5">
            <a:extLst>
              <a:ext uri="{FF2B5EF4-FFF2-40B4-BE49-F238E27FC236}">
                <a16:creationId xmlns:a16="http://schemas.microsoft.com/office/drawing/2014/main" id="{9D622E35-ED11-3E1D-3267-FB7969EBB673}"/>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5" name="TextBox 14">
            <a:extLst>
              <a:ext uri="{FF2B5EF4-FFF2-40B4-BE49-F238E27FC236}">
                <a16:creationId xmlns:a16="http://schemas.microsoft.com/office/drawing/2014/main" id="{E95FADBA-93BC-7FCB-D7C6-2138FE10BECE}"/>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7" name="Picture 6" descr="A black background with white text&#10;&#10;Description automatically generated">
            <a:extLst>
              <a:ext uri="{FF2B5EF4-FFF2-40B4-BE49-F238E27FC236}">
                <a16:creationId xmlns:a16="http://schemas.microsoft.com/office/drawing/2014/main" id="{2F168AC0-F6F3-71BB-BDB7-D14C957BCB1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4056036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521EA7-200B-F8EF-FA1A-AF68F6EAFB52}"/>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74059"/>
            <a:ext cx="10515600" cy="816630"/>
          </a:xfrm>
        </p:spPr>
        <p:txBody>
          <a:bodyPr/>
          <a:lstStyle/>
          <a:p>
            <a:r>
              <a:rPr lang="en-US" dirty="0"/>
              <a:t>Click to edit Master title style</a:t>
            </a:r>
          </a:p>
        </p:txBody>
      </p:sp>
      <p:sp>
        <p:nvSpPr>
          <p:cNvPr id="8" name="Rectangle 11">
            <a:extLst>
              <a:ext uri="{FF2B5EF4-FFF2-40B4-BE49-F238E27FC236}">
                <a16:creationId xmlns:a16="http://schemas.microsoft.com/office/drawing/2014/main" id="{C62A9323-B343-0333-2A84-AB84726F155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2472A695-B9BF-2B5E-F712-588F45EA7A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50B28936-A209-8496-713D-69F064437D73}"/>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1" name="TextBox 10">
            <a:extLst>
              <a:ext uri="{FF2B5EF4-FFF2-40B4-BE49-F238E27FC236}">
                <a16:creationId xmlns:a16="http://schemas.microsoft.com/office/drawing/2014/main" id="{6E1FC07C-FFBA-6E41-FC9E-B8C545CCA2CA}"/>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3" name="Picture 2" descr="A black background with white text&#10;&#10;Description automatically generated">
            <a:extLst>
              <a:ext uri="{FF2B5EF4-FFF2-40B4-BE49-F238E27FC236}">
                <a16:creationId xmlns:a16="http://schemas.microsoft.com/office/drawing/2014/main" id="{943E1AB2-24F0-751B-86DE-9AC77889FA3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60889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1F72B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A64684-422C-D171-0292-6610A91BE81D}"/>
              </a:ext>
            </a:extLst>
          </p:cNvPr>
          <p:cNvSpPr/>
          <p:nvPr userDrawn="1"/>
        </p:nvSpPr>
        <p:spPr>
          <a:xfrm>
            <a:off x="0" y="-8444"/>
            <a:ext cx="12192000" cy="7133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pic>
        <p:nvPicPr>
          <p:cNvPr id="6" name="Picture 5">
            <a:extLst>
              <a:ext uri="{FF2B5EF4-FFF2-40B4-BE49-F238E27FC236}">
                <a16:creationId xmlns:a16="http://schemas.microsoft.com/office/drawing/2014/main" id="{4FD82848-CD15-3DBB-0148-67FB51371B08}"/>
              </a:ext>
            </a:extLst>
          </p:cNvPr>
          <p:cNvPicPr>
            <a:picLocks/>
          </p:cNvPicPr>
          <p:nvPr userDrawn="1"/>
        </p:nvPicPr>
        <p:blipFill>
          <a:blip r:embed="rId2" cstate="screen">
            <a:extLst>
              <a:ext uri="{28A0092B-C50C-407E-A947-70E740481C1C}">
                <a14:useLocalDpi xmlns:a14="http://schemas.microsoft.com/office/drawing/2010/main"/>
              </a:ext>
            </a:extLst>
          </a:blip>
          <a:srcRect/>
          <a:stretch/>
        </p:blipFill>
        <p:spPr>
          <a:xfrm>
            <a:off x="318618" y="2224"/>
            <a:ext cx="3290400" cy="685072"/>
          </a:xfrm>
          <a:prstGeom prst="rect">
            <a:avLst/>
          </a:prstGeom>
        </p:spPr>
      </p:pic>
      <p:sp>
        <p:nvSpPr>
          <p:cNvPr id="8" name="Rectangle 11">
            <a:extLst>
              <a:ext uri="{FF2B5EF4-FFF2-40B4-BE49-F238E27FC236}">
                <a16:creationId xmlns:a16="http://schemas.microsoft.com/office/drawing/2014/main" id="{181386B9-1456-137E-66EE-45A4447494C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09CB3CD2-68E1-7670-8AC8-DCAEFA0447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7855B251-549F-CC81-82C4-1791D4DC0F9C}"/>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1" name="TextBox 10">
            <a:extLst>
              <a:ext uri="{FF2B5EF4-FFF2-40B4-BE49-F238E27FC236}">
                <a16:creationId xmlns:a16="http://schemas.microsoft.com/office/drawing/2014/main" id="{2C95FE02-F81D-DAA0-4384-0E62C5A8FC54}"/>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chemeClr val="bg1"/>
                </a:solidFill>
              </a:rPr>
              <a:t>https://huit.edu.vn</a:t>
            </a:r>
            <a:endParaRPr lang="en-VN" sz="1000">
              <a:solidFill>
                <a:schemeClr val="bg1"/>
              </a:solidFill>
            </a:endParaRPr>
          </a:p>
        </p:txBody>
      </p:sp>
    </p:spTree>
    <p:extLst>
      <p:ext uri="{BB962C8B-B14F-4D97-AF65-F5344CB8AC3E}">
        <p14:creationId xmlns:p14="http://schemas.microsoft.com/office/powerpoint/2010/main" val="1692909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57654E7B-7E2F-A597-CEAB-D64DA25FBCEB}"/>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EA9AB12A-F2B6-4320-39F1-67F3778EE5DF}"/>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B773966A-35C2-70BC-CFF9-46C3441D8C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C8C1A7AF-70A0-C0E9-B2F5-1490BE6C7AD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CC216FF7-3AE9-85FA-D18A-9862C6DB59AE}"/>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7C0ADFA0-11B6-96C9-35AE-E6733196ACDA}"/>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826321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4B2A7AA7-CA5F-D2FA-2E5E-C3E10A53D35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1EDE2594-98FA-EBCE-C733-A51E9F54ED18}"/>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AF735AE5-30EC-7992-E657-2104C4F3BF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ACB5785D-C6E0-0BB4-B792-5DF6906E162F}"/>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DDC76ABB-19BA-0D81-2004-CA8C1BFA3211}"/>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93DEC689-0562-F90A-00BD-D3E65D677F10}"/>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39123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B4B8236F-F572-6350-D20A-0FCE1F38009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4"/>
            <a:ext cx="10515600" cy="806385"/>
          </a:xfrm>
        </p:spPr>
        <p:txBody>
          <a:bodyPr/>
          <a:lstStyle/>
          <a:p>
            <a:r>
              <a:rPr lang="en-US" dirty="0"/>
              <a:t>Click to edit Master title style</a:t>
            </a:r>
          </a:p>
        </p:txBody>
      </p:sp>
      <p:sp>
        <p:nvSpPr>
          <p:cNvPr id="9" name="Rectangle 11">
            <a:extLst>
              <a:ext uri="{FF2B5EF4-FFF2-40B4-BE49-F238E27FC236}">
                <a16:creationId xmlns:a16="http://schemas.microsoft.com/office/drawing/2014/main" id="{9C659F1E-1F51-522D-AC8E-BE6E140A9E7D}"/>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9D1B0D34-343B-C838-5720-7351BA57CF3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2B8E042D-2BAA-2A3F-EC27-380C92DBE4B0}"/>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2" name="TextBox 11">
            <a:extLst>
              <a:ext uri="{FF2B5EF4-FFF2-40B4-BE49-F238E27FC236}">
                <a16:creationId xmlns:a16="http://schemas.microsoft.com/office/drawing/2014/main" id="{00CD5B80-37F9-BE16-90B3-B1958D8A8755}"/>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4" name="Picture 3" descr="A black background with white text&#10;&#10;Description automatically generated">
            <a:extLst>
              <a:ext uri="{FF2B5EF4-FFF2-40B4-BE49-F238E27FC236}">
                <a16:creationId xmlns:a16="http://schemas.microsoft.com/office/drawing/2014/main" id="{E62415AA-63D3-FB51-385B-BC2BCB0599A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633594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2366D-8698-B649-944B-CF1A6B166FF8}" type="datetimeFigureOut">
              <a:t>11/08/2026</a:t>
            </a:fld>
            <a:endParaRPr lang="en-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440A-2DED-3643-ADED-9B5C83E7D828}" type="slidenum">
              <a:t>‹#›</a:t>
            </a:fld>
            <a:endParaRPr lang="en-VN"/>
          </a:p>
        </p:txBody>
      </p:sp>
    </p:spTree>
    <p:extLst>
      <p:ext uri="{BB962C8B-B14F-4D97-AF65-F5344CB8AC3E}">
        <p14:creationId xmlns:p14="http://schemas.microsoft.com/office/powerpoint/2010/main" val="527099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10.png"/><Relationship Id="rId9" Type="http://schemas.openxmlformats.org/officeDocument/2006/relationships/image" Target="../media/image19.png"/><Relationship Id="rId10"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9.png"/><Relationship Id="rId5" Type="http://schemas.openxmlformats.org/officeDocument/2006/relationships/image" Target="../media/image19.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30.png"/><Relationship Id="rId6" Type="http://schemas.openxmlformats.org/officeDocument/2006/relationships/image" Target="../media/image20.png"/><Relationship Id="rId7" Type="http://schemas.openxmlformats.org/officeDocument/2006/relationships/image" Target="../media/image31.png"/><Relationship Id="rId8"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32.png"/><Relationship Id="rId6"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5AAC1D3-EE6D-FC85-F800-5FCE3F264EAA}"/>
              </a:ext>
            </a:extLst>
          </p:cNvPr>
          <p:cNvSpPr txBox="1"/>
          <p:nvPr/>
        </p:nvSpPr>
        <p:spPr>
          <a:xfrm>
            <a:off x="914400" y="960120"/>
            <a:ext cx="10360152" cy="822960"/>
          </a:xfrm>
          <a:prstGeom prst="rect">
            <a:avLst/>
          </a:prstGeom>
          <a:noFill/>
        </p:spPr>
        <p:txBody>
          <a:bodyPr wrap="square" rtlCol="0">
            <a:spAutoFit/>
          </a:bodyPr>
          <a:lstStyle/>
          <a:p>
            <a:pPr algn="ctr">
              <a:spcAft>
                <a:spcPts val="0"/>
              </a:spcAft>
            </a:pPr>
            <a:r>
              <a:rPr sz="1800" b="1">
                <a:solidFill>
                  <a:srgbClr val="5B6775"/>
                </a:solidFill>
                <a:latin typeface="Calibri"/>
              </a:rPr>
              <a:t>KHOÁ LUẬN TỐT NGHIỆP</a:t>
            </a:r>
            <a:endParaRPr lang="vi-VN" dirty="0"/>
          </a:p>
          <a:p>
            <a:pPr algn="ctr">
              <a:spcAft>
                <a:spcPts val="0"/>
              </a:spcAft>
            </a:pPr>
            <a:r>
              <a:rPr sz="1800" b="1">
                <a:solidFill>
                  <a:srgbClr val="5B6775"/>
                </a:solidFill>
                <a:latin typeface="Calibri"/>
              </a:rPr>
              <a:t>NGÀNH CÔNG NGHỆ THÔNG TIN</a:t>
            </a:r>
          </a:p>
        </p:txBody>
      </p:sp>
      <p:sp>
        <p:nvSpPr>
          <p:cNvPr id="7" name="TextBox 6">
            <a:extLst>
              <a:ext uri="{FF2B5EF4-FFF2-40B4-BE49-F238E27FC236}">
                <a16:creationId xmlns:a16="http://schemas.microsoft.com/office/drawing/2014/main" id="{5CCF78BC-6A27-21AC-5EBD-81C9E14542EB}"/>
              </a:ext>
            </a:extLst>
          </p:cNvPr>
          <p:cNvSpPr txBox="1"/>
          <p:nvPr/>
        </p:nvSpPr>
        <p:spPr>
          <a:xfrm>
            <a:off x="914400" y="1828800"/>
            <a:ext cx="10360152" cy="1143000"/>
          </a:xfrm>
          <a:prstGeom prst="rect">
            <a:avLst/>
          </a:prstGeom>
          <a:noFill/>
        </p:spPr>
        <p:txBody>
          <a:bodyPr wrap="square" rtlCol="0">
            <a:spAutoFit/>
          </a:bodyPr>
          <a:lstStyle/>
          <a:p>
            <a:pPr algn="ctr">
              <a:spcAft>
                <a:spcPts val="0"/>
              </a:spcAft>
            </a:pPr>
            <a:r>
              <a:rPr sz="3600" b="1">
                <a:solidFill>
                  <a:srgbClr val="044F9E"/>
                </a:solidFill>
                <a:latin typeface="Calibri"/>
              </a:rPr>
              <a:t>XÂY DỰNG ỨNG DỤNG</a:t>
            </a:r>
            <a:endParaRPr lang="vi-VN" dirty="0"/>
          </a:p>
          <a:p>
            <a:pPr algn="ctr">
              <a:spcAft>
                <a:spcPts val="0"/>
              </a:spcAft>
            </a:pPr>
            <a:r>
              <a:rPr sz="3600" b="1">
                <a:solidFill>
                  <a:srgbClr val="044F9E"/>
                </a:solidFill>
                <a:latin typeface="Calibri"/>
              </a:rPr>
              <a:t>QUẢN LÝ DỊCH VỤ ĂN UỐNG</a:t>
            </a:r>
          </a:p>
        </p:txBody>
      </p:sp>
      <p:sp>
        <p:nvSpPr>
          <p:cNvPr id="9" name="TextBox 8">
            <a:extLst>
              <a:ext uri="{FF2B5EF4-FFF2-40B4-BE49-F238E27FC236}">
                <a16:creationId xmlns:a16="http://schemas.microsoft.com/office/drawing/2014/main" id="{AA7E2475-13C4-9385-87CD-4BB65220D9F5}"/>
              </a:ext>
            </a:extLst>
          </p:cNvPr>
          <p:cNvSpPr txBox="1"/>
          <p:nvPr/>
        </p:nvSpPr>
        <p:spPr>
          <a:xfrm>
            <a:off x="914400" y="3108960"/>
            <a:ext cx="10360152" cy="365760"/>
          </a:xfrm>
          <a:prstGeom prst="rect">
            <a:avLst/>
          </a:prstGeom>
          <a:noFill/>
        </p:spPr>
        <p:txBody>
          <a:bodyPr wrap="square" rtlCol="0">
            <a:spAutoFit/>
          </a:bodyPr>
          <a:lstStyle/>
          <a:p>
            <a:pPr lvl="0" algn="ctr" defTabSz="457200">
              <a:spcAft>
                <a:spcPts val="0"/>
              </a:spcAft>
            </a:pPr>
            <a:r>
              <a:rPr sz="1800" b="1">
                <a:solidFill>
                  <a:srgbClr val="2072B7"/>
                </a:solidFill>
                <a:latin typeface="Calibri"/>
              </a:rPr>
              <a:t>GVHD: ThS. Dương Thị Mộng Thùy   |   Mã đề tài: CNTT-KLCN069</a:t>
            </a:r>
            <a:endParaRPr kumimoji="0" lang="en-VN" sz="2800" b="1" i="0" u="none" strike="noStrike" kern="1200" cap="none" spc="0" normalizeH="0" baseline="0" noProof="0" dirty="0">
              <a:ln>
                <a:noFill/>
              </a:ln>
              <a:solidFill>
                <a:srgbClr val="000000"/>
              </a:solidFill>
              <a:effectLst/>
              <a:uLnTx/>
              <a:uFillTx/>
              <a:latin typeface="Myriad Pro" panose="020B0503030403020204" pitchFamily="34" charset="0"/>
              <a:ea typeface="+mn-ea"/>
              <a:cs typeface="+mn-cs"/>
            </a:endParaRPr>
          </a:p>
        </p:txBody>
      </p:sp>
      <p:sp>
        <p:nvSpPr>
          <p:cNvPr id="10" name="TextBox 9">
            <a:extLst>
              <a:ext uri="{FF2B5EF4-FFF2-40B4-BE49-F238E27FC236}">
                <a16:creationId xmlns:a16="http://schemas.microsoft.com/office/drawing/2014/main" id="{BE655C6D-6344-E3C7-0794-405668DB7F8A}"/>
              </a:ext>
            </a:extLst>
          </p:cNvPr>
          <p:cNvSpPr txBox="1"/>
          <p:nvPr/>
        </p:nvSpPr>
        <p:spPr>
          <a:xfrm>
            <a:off x="914400" y="3611880"/>
            <a:ext cx="10360152" cy="1280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200"/>
              </a:spcAft>
              <a:buClrTx/>
              <a:buSzTx/>
              <a:buFontTx/>
              <a:buNone/>
              <a:tabLst/>
              <a:defRPr/>
            </a:pPr>
            <a:r>
              <a:rPr sz="1600" b="0">
                <a:solidFill>
                  <a:srgbClr val="1F2A37"/>
                </a:solidFill>
                <a:latin typeface="Calibri"/>
              </a:rPr>
              <a:t>Nguyễn Văn Hải – 2001230203 – 14DHTH09</a:t>
            </a:r>
            <a:endParaRPr kumimoji="0" lang="en-VN" sz="1800" b="0" i="0" u="none" strike="noStrike" kern="1200" cap="none" spc="0" normalizeH="0" baseline="0" noProof="0" dirty="0">
              <a:ln>
                <a:noFill/>
              </a:ln>
              <a:solidFill>
                <a:srgbClr val="000000"/>
              </a:solidFill>
              <a:effectLst/>
              <a:uLnTx/>
              <a:uFillTx/>
              <a:latin typeface="Myriad Pro" panose="020B0503030403020204" pitchFamily="34" charset="0"/>
              <a:ea typeface="+mn-ea"/>
              <a:cs typeface="+mn-cs"/>
            </a:endParaRPr>
          </a:p>
          <a:p>
            <a:pPr algn="ctr">
              <a:spcAft>
                <a:spcPts val="200"/>
              </a:spcAft>
            </a:pPr>
            <a:r>
              <a:rPr sz="1600" b="0">
                <a:solidFill>
                  <a:srgbClr val="1F2A37"/>
                </a:solidFill>
                <a:latin typeface="Calibri"/>
              </a:rPr>
              <a:t>Khưu Mai Hưng – 2001230335 – 14DHTH02</a:t>
            </a:r>
          </a:p>
          <a:p>
            <a:pPr algn="ctr">
              <a:spcAft>
                <a:spcPts val="200"/>
              </a:spcAft>
            </a:pPr>
            <a:r>
              <a:rPr sz="1600" b="0">
                <a:solidFill>
                  <a:srgbClr val="1F2A37"/>
                </a:solidFill>
                <a:latin typeface="Calibri"/>
              </a:rPr>
              <a:t>Nguyễn Hoàng Minh Nhật – 2001230609 – 14DHTH14</a:t>
            </a:r>
          </a:p>
        </p:txBody>
      </p:sp>
    </p:spTree>
    <p:extLst>
      <p:ext uri="{BB962C8B-B14F-4D97-AF65-F5344CB8AC3E}">
        <p14:creationId xmlns:p14="http://schemas.microsoft.com/office/powerpoint/2010/main" val="164244258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Nội dung trình bày</a:t>
            </a:r>
          </a:p>
        </p:txBody>
      </p:sp>
      <p:sp>
        <p:nvSpPr>
          <p:cNvPr id="3" name="Rounded Rectangle 2"/>
          <p:cNvSpPr/>
          <p:nvPr/>
        </p:nvSpPr>
        <p:spPr>
          <a:xfrm>
            <a:off x="822960" y="2103120"/>
            <a:ext cx="1920240" cy="3108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 y="2377440"/>
            <a:ext cx="731520" cy="73152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b"/>
          <p:cNvSpPr txBox="1"/>
          <p:nvPr/>
        </p:nvSpPr>
        <p:spPr>
          <a:xfrm>
            <a:off x="1051560" y="2377440"/>
            <a:ext cx="731520" cy="731520"/>
          </a:xfrm>
          <a:prstGeom prst="rect">
            <a:avLst/>
          </a:prstGeom>
          <a:noFill/>
        </p:spPr>
        <p:txBody>
          <a:bodyPr wrap="square" lIns="0" rIns="0" tIns="0" bIns="0" anchor="ctr">
            <a:spAutoFit/>
          </a:bodyPr>
          <a:lstStyle/>
          <a:p>
            <a:pPr algn="ctr">
              <a:lnSpc>
                <a:spcPct val="100000"/>
              </a:lnSpc>
            </a:pPr>
            <a:r>
              <a:rPr sz="3000" b="1">
                <a:solidFill>
                  <a:srgbClr val="FFFFFF"/>
                </a:solidFill>
                <a:latin typeface="Calibri"/>
              </a:rPr>
              <a:t>1</a:t>
            </a:r>
          </a:p>
        </p:txBody>
      </p:sp>
      <p:sp>
        <p:nvSpPr>
          <p:cNvPr id="6" name="tb"/>
          <p:cNvSpPr txBox="1"/>
          <p:nvPr/>
        </p:nvSpPr>
        <p:spPr>
          <a:xfrm>
            <a:off x="1051560" y="3337560"/>
            <a:ext cx="1554480" cy="822960"/>
          </a:xfrm>
          <a:prstGeom prst="rect">
            <a:avLst/>
          </a:prstGeom>
          <a:noFill/>
        </p:spPr>
        <p:txBody>
          <a:bodyPr wrap="square" lIns="0" rIns="0" tIns="0" bIns="0" anchor="t">
            <a:spAutoFit/>
          </a:bodyPr>
          <a:lstStyle/>
          <a:p>
            <a:pPr algn="l">
              <a:lnSpc>
                <a:spcPct val="100000"/>
              </a:lnSpc>
            </a:pPr>
            <a:r>
              <a:rPr sz="2000" b="1">
                <a:solidFill>
                  <a:srgbClr val="044F9E"/>
                </a:solidFill>
                <a:latin typeface="Calibri"/>
              </a:rPr>
              <a:t>Đặt vấn đề</a:t>
            </a:r>
          </a:p>
        </p:txBody>
      </p:sp>
      <p:sp>
        <p:nvSpPr>
          <p:cNvPr id="7" name="tb"/>
          <p:cNvSpPr txBox="1"/>
          <p:nvPr/>
        </p:nvSpPr>
        <p:spPr>
          <a:xfrm>
            <a:off x="1051560" y="4160520"/>
            <a:ext cx="1554480" cy="91440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Bối cảnh, mục tiêu, đối tượng sử dụng</a:t>
            </a:r>
          </a:p>
        </p:txBody>
      </p:sp>
      <p:sp>
        <p:nvSpPr>
          <p:cNvPr id="8" name="Rounded Rectangle 7"/>
          <p:cNvSpPr/>
          <p:nvPr/>
        </p:nvSpPr>
        <p:spPr>
          <a:xfrm>
            <a:off x="2971800" y="2103120"/>
            <a:ext cx="1920240" cy="3108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200400" y="2377440"/>
            <a:ext cx="731520" cy="73152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b"/>
          <p:cNvSpPr txBox="1"/>
          <p:nvPr/>
        </p:nvSpPr>
        <p:spPr>
          <a:xfrm>
            <a:off x="3200400" y="2377440"/>
            <a:ext cx="731520" cy="731520"/>
          </a:xfrm>
          <a:prstGeom prst="rect">
            <a:avLst/>
          </a:prstGeom>
          <a:noFill/>
        </p:spPr>
        <p:txBody>
          <a:bodyPr wrap="square" lIns="0" rIns="0" tIns="0" bIns="0" anchor="ctr">
            <a:spAutoFit/>
          </a:bodyPr>
          <a:lstStyle/>
          <a:p>
            <a:pPr algn="ctr">
              <a:lnSpc>
                <a:spcPct val="100000"/>
              </a:lnSpc>
            </a:pPr>
            <a:r>
              <a:rPr sz="3000" b="1">
                <a:solidFill>
                  <a:srgbClr val="FFFFFF"/>
                </a:solidFill>
                <a:latin typeface="Calibri"/>
              </a:rPr>
              <a:t>2</a:t>
            </a:r>
          </a:p>
        </p:txBody>
      </p:sp>
      <p:sp>
        <p:nvSpPr>
          <p:cNvPr id="11" name="tb"/>
          <p:cNvSpPr txBox="1"/>
          <p:nvPr/>
        </p:nvSpPr>
        <p:spPr>
          <a:xfrm>
            <a:off x="3200400" y="3337560"/>
            <a:ext cx="1554480" cy="822960"/>
          </a:xfrm>
          <a:prstGeom prst="rect">
            <a:avLst/>
          </a:prstGeom>
          <a:noFill/>
        </p:spPr>
        <p:txBody>
          <a:bodyPr wrap="square" lIns="0" rIns="0" tIns="0" bIns="0" anchor="t">
            <a:spAutoFit/>
          </a:bodyPr>
          <a:lstStyle/>
          <a:p>
            <a:pPr algn="l">
              <a:lnSpc>
                <a:spcPct val="100000"/>
              </a:lnSpc>
            </a:pPr>
            <a:r>
              <a:rPr sz="2000" b="1">
                <a:solidFill>
                  <a:srgbClr val="044F9E"/>
                </a:solidFill>
                <a:latin typeface="Calibri"/>
              </a:rPr>
              <a:t>Phân tích &amp; thiết kế</a:t>
            </a:r>
          </a:p>
        </p:txBody>
      </p:sp>
      <p:sp>
        <p:nvSpPr>
          <p:cNvPr id="12" name="tb"/>
          <p:cNvSpPr txBox="1"/>
          <p:nvPr/>
        </p:nvSpPr>
        <p:spPr>
          <a:xfrm>
            <a:off x="3200400" y="4160520"/>
            <a:ext cx="1554480" cy="91440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Use case, kiến trúc, cơ sở dữ liệu</a:t>
            </a:r>
          </a:p>
        </p:txBody>
      </p:sp>
      <p:sp>
        <p:nvSpPr>
          <p:cNvPr id="13" name="Rounded Rectangle 12"/>
          <p:cNvSpPr/>
          <p:nvPr/>
        </p:nvSpPr>
        <p:spPr>
          <a:xfrm>
            <a:off x="5120640" y="2103120"/>
            <a:ext cx="1920240" cy="3108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349240" y="2377440"/>
            <a:ext cx="731520" cy="73152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b"/>
          <p:cNvSpPr txBox="1"/>
          <p:nvPr/>
        </p:nvSpPr>
        <p:spPr>
          <a:xfrm>
            <a:off x="5349240" y="2377440"/>
            <a:ext cx="731520" cy="731520"/>
          </a:xfrm>
          <a:prstGeom prst="rect">
            <a:avLst/>
          </a:prstGeom>
          <a:noFill/>
        </p:spPr>
        <p:txBody>
          <a:bodyPr wrap="square" lIns="0" rIns="0" tIns="0" bIns="0" anchor="ctr">
            <a:spAutoFit/>
          </a:bodyPr>
          <a:lstStyle/>
          <a:p>
            <a:pPr algn="ctr">
              <a:lnSpc>
                <a:spcPct val="100000"/>
              </a:lnSpc>
            </a:pPr>
            <a:r>
              <a:rPr sz="3000" b="1">
                <a:solidFill>
                  <a:srgbClr val="FFFFFF"/>
                </a:solidFill>
                <a:latin typeface="Calibri"/>
              </a:rPr>
              <a:t>3</a:t>
            </a:r>
          </a:p>
        </p:txBody>
      </p:sp>
      <p:sp>
        <p:nvSpPr>
          <p:cNvPr id="16" name="tb"/>
          <p:cNvSpPr txBox="1"/>
          <p:nvPr/>
        </p:nvSpPr>
        <p:spPr>
          <a:xfrm>
            <a:off x="5349240" y="3337560"/>
            <a:ext cx="1554480" cy="822960"/>
          </a:xfrm>
          <a:prstGeom prst="rect">
            <a:avLst/>
          </a:prstGeom>
          <a:noFill/>
        </p:spPr>
        <p:txBody>
          <a:bodyPr wrap="square" lIns="0" rIns="0" tIns="0" bIns="0" anchor="t">
            <a:spAutoFit/>
          </a:bodyPr>
          <a:lstStyle/>
          <a:p>
            <a:pPr algn="l">
              <a:lnSpc>
                <a:spcPct val="100000"/>
              </a:lnSpc>
            </a:pPr>
            <a:r>
              <a:rPr sz="2000" b="1">
                <a:solidFill>
                  <a:srgbClr val="044F9E"/>
                </a:solidFill>
                <a:latin typeface="Calibri"/>
              </a:rPr>
              <a:t>Cài đặt</a:t>
            </a:r>
          </a:p>
        </p:txBody>
      </p:sp>
      <p:sp>
        <p:nvSpPr>
          <p:cNvPr id="17" name="tb"/>
          <p:cNvSpPr txBox="1"/>
          <p:nvPr/>
        </p:nvSpPr>
        <p:spPr>
          <a:xfrm>
            <a:off x="5349240" y="4160520"/>
            <a:ext cx="1554480" cy="91440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Công nghệ, giao diện, kỹ thuật nổi bật</a:t>
            </a:r>
          </a:p>
        </p:txBody>
      </p:sp>
      <p:sp>
        <p:nvSpPr>
          <p:cNvPr id="18" name="Rounded Rectangle 17"/>
          <p:cNvSpPr/>
          <p:nvPr/>
        </p:nvSpPr>
        <p:spPr>
          <a:xfrm>
            <a:off x="7269480" y="2103120"/>
            <a:ext cx="1920240" cy="3108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0" y="2377440"/>
            <a:ext cx="731520" cy="73152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b"/>
          <p:cNvSpPr txBox="1"/>
          <p:nvPr/>
        </p:nvSpPr>
        <p:spPr>
          <a:xfrm>
            <a:off x="7498080" y="2377440"/>
            <a:ext cx="731520" cy="731520"/>
          </a:xfrm>
          <a:prstGeom prst="rect">
            <a:avLst/>
          </a:prstGeom>
          <a:noFill/>
        </p:spPr>
        <p:txBody>
          <a:bodyPr wrap="square" lIns="0" rIns="0" tIns="0" bIns="0" anchor="ctr">
            <a:spAutoFit/>
          </a:bodyPr>
          <a:lstStyle/>
          <a:p>
            <a:pPr algn="ctr">
              <a:lnSpc>
                <a:spcPct val="100000"/>
              </a:lnSpc>
            </a:pPr>
            <a:r>
              <a:rPr sz="3000" b="1">
                <a:solidFill>
                  <a:srgbClr val="FFFFFF"/>
                </a:solidFill>
                <a:latin typeface="Calibri"/>
              </a:rPr>
              <a:t>4</a:t>
            </a:r>
          </a:p>
        </p:txBody>
      </p:sp>
      <p:sp>
        <p:nvSpPr>
          <p:cNvPr id="21" name="tb"/>
          <p:cNvSpPr txBox="1"/>
          <p:nvPr/>
        </p:nvSpPr>
        <p:spPr>
          <a:xfrm>
            <a:off x="7498080" y="3337560"/>
            <a:ext cx="1554480" cy="822960"/>
          </a:xfrm>
          <a:prstGeom prst="rect">
            <a:avLst/>
          </a:prstGeom>
          <a:noFill/>
        </p:spPr>
        <p:txBody>
          <a:bodyPr wrap="square" lIns="0" rIns="0" tIns="0" bIns="0" anchor="t">
            <a:spAutoFit/>
          </a:bodyPr>
          <a:lstStyle/>
          <a:p>
            <a:pPr algn="l">
              <a:lnSpc>
                <a:spcPct val="100000"/>
              </a:lnSpc>
            </a:pPr>
            <a:r>
              <a:rPr sz="2000" b="1">
                <a:solidFill>
                  <a:srgbClr val="044F9E"/>
                </a:solidFill>
                <a:latin typeface="Calibri"/>
              </a:rPr>
              <a:t>Kiểm thử &amp; triển khai</a:t>
            </a:r>
          </a:p>
        </p:txBody>
      </p:sp>
      <p:sp>
        <p:nvSpPr>
          <p:cNvPr id="22" name="tb"/>
          <p:cNvSpPr txBox="1"/>
          <p:nvPr/>
        </p:nvSpPr>
        <p:spPr>
          <a:xfrm>
            <a:off x="7498080" y="4160520"/>
            <a:ext cx="1554480" cy="91440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Kịch bản kiểm thử, quy trình triển khai</a:t>
            </a:r>
          </a:p>
        </p:txBody>
      </p:sp>
      <p:sp>
        <p:nvSpPr>
          <p:cNvPr id="23" name="Rounded Rectangle 22"/>
          <p:cNvSpPr/>
          <p:nvPr/>
        </p:nvSpPr>
        <p:spPr>
          <a:xfrm>
            <a:off x="9418320" y="2103120"/>
            <a:ext cx="1920240" cy="3108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46920" y="2377440"/>
            <a:ext cx="731520" cy="73152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b"/>
          <p:cNvSpPr txBox="1"/>
          <p:nvPr/>
        </p:nvSpPr>
        <p:spPr>
          <a:xfrm>
            <a:off x="9646920" y="2377440"/>
            <a:ext cx="731520" cy="731520"/>
          </a:xfrm>
          <a:prstGeom prst="rect">
            <a:avLst/>
          </a:prstGeom>
          <a:noFill/>
        </p:spPr>
        <p:txBody>
          <a:bodyPr wrap="square" lIns="0" rIns="0" tIns="0" bIns="0" anchor="ctr">
            <a:spAutoFit/>
          </a:bodyPr>
          <a:lstStyle/>
          <a:p>
            <a:pPr algn="ctr">
              <a:lnSpc>
                <a:spcPct val="100000"/>
              </a:lnSpc>
            </a:pPr>
            <a:r>
              <a:rPr sz="3000" b="1">
                <a:solidFill>
                  <a:srgbClr val="FFFFFF"/>
                </a:solidFill>
                <a:latin typeface="Calibri"/>
              </a:rPr>
              <a:t>5</a:t>
            </a:r>
          </a:p>
        </p:txBody>
      </p:sp>
      <p:sp>
        <p:nvSpPr>
          <p:cNvPr id="26" name="tb"/>
          <p:cNvSpPr txBox="1"/>
          <p:nvPr/>
        </p:nvSpPr>
        <p:spPr>
          <a:xfrm>
            <a:off x="9646920" y="3337560"/>
            <a:ext cx="1554480" cy="822960"/>
          </a:xfrm>
          <a:prstGeom prst="rect">
            <a:avLst/>
          </a:prstGeom>
          <a:noFill/>
        </p:spPr>
        <p:txBody>
          <a:bodyPr wrap="square" lIns="0" rIns="0" tIns="0" bIns="0" anchor="t">
            <a:spAutoFit/>
          </a:bodyPr>
          <a:lstStyle/>
          <a:p>
            <a:pPr algn="l">
              <a:lnSpc>
                <a:spcPct val="100000"/>
              </a:lnSpc>
            </a:pPr>
            <a:r>
              <a:rPr sz="2000" b="1">
                <a:solidFill>
                  <a:srgbClr val="044F9E"/>
                </a:solidFill>
                <a:latin typeface="Calibri"/>
              </a:rPr>
              <a:t>Kết luận</a:t>
            </a:r>
          </a:p>
        </p:txBody>
      </p:sp>
      <p:sp>
        <p:nvSpPr>
          <p:cNvPr id="27" name="tb"/>
          <p:cNvSpPr txBox="1"/>
          <p:nvPr/>
        </p:nvSpPr>
        <p:spPr>
          <a:xfrm>
            <a:off x="9646920" y="4160520"/>
            <a:ext cx="1554480" cy="91440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Kết quả, hạn chế, hướng phát triển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Đặt vấn đề và mục tiêu</a:t>
            </a:r>
          </a:p>
        </p:txBody>
      </p:sp>
      <p:sp>
        <p:nvSpPr>
          <p:cNvPr id="3" name="tb"/>
          <p:cNvSpPr txBox="1"/>
          <p:nvPr/>
        </p:nvSpPr>
        <p:spPr>
          <a:xfrm>
            <a:off x="822960" y="1783080"/>
            <a:ext cx="4937760" cy="365760"/>
          </a:xfrm>
          <a:prstGeom prst="rect">
            <a:avLst/>
          </a:prstGeom>
          <a:noFill/>
        </p:spPr>
        <p:txBody>
          <a:bodyPr wrap="square" lIns="0" rIns="0" tIns="0" bIns="0" anchor="t">
            <a:spAutoFit/>
          </a:bodyPr>
          <a:lstStyle/>
          <a:p>
            <a:pPr algn="l">
              <a:lnSpc>
                <a:spcPct val="100000"/>
              </a:lnSpc>
            </a:pPr>
            <a:r>
              <a:rPr sz="2200" b="1">
                <a:solidFill>
                  <a:srgbClr val="2072B7"/>
                </a:solidFill>
                <a:latin typeface="Calibri"/>
              </a:rPr>
              <a:t>Vấn đề đặt ra</a:t>
            </a:r>
          </a:p>
        </p:txBody>
      </p:sp>
      <p:sp>
        <p:nvSpPr>
          <p:cNvPr id="4" name="Rounded Rectangle 3"/>
          <p:cNvSpPr/>
          <p:nvPr/>
        </p:nvSpPr>
        <p:spPr>
          <a:xfrm>
            <a:off x="822960" y="2286000"/>
            <a:ext cx="5029200" cy="114300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5840" y="2578608"/>
            <a:ext cx="566928" cy="566928"/>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ers_w.png"/>
          <p:cNvPicPr>
            <a:picLocks noChangeAspect="1"/>
          </p:cNvPicPr>
          <p:nvPr/>
        </p:nvPicPr>
        <p:blipFill>
          <a:blip r:embed="rId3"/>
          <a:stretch>
            <a:fillRect/>
          </a:stretch>
        </p:blipFill>
        <p:spPr>
          <a:xfrm>
            <a:off x="1161288" y="2734056"/>
            <a:ext cx="256031" cy="256031"/>
          </a:xfrm>
          <a:prstGeom prst="rect">
            <a:avLst/>
          </a:prstGeom>
        </p:spPr>
      </p:pic>
      <p:sp>
        <p:nvSpPr>
          <p:cNvPr id="7" name="tb"/>
          <p:cNvSpPr txBox="1"/>
          <p:nvPr/>
        </p:nvSpPr>
        <p:spPr>
          <a:xfrm>
            <a:off x="1783080" y="2377440"/>
            <a:ext cx="3931920" cy="960120"/>
          </a:xfrm>
          <a:prstGeom prst="rect">
            <a:avLst/>
          </a:prstGeom>
          <a:noFill/>
        </p:spPr>
        <p:txBody>
          <a:bodyPr wrap="square" lIns="0" rIns="0" tIns="0" bIns="0" anchor="ctr">
            <a:spAutoFit/>
          </a:bodyPr>
          <a:lstStyle/>
          <a:p>
            <a:pPr algn="l">
              <a:lnSpc>
                <a:spcPct val="100000"/>
              </a:lnSpc>
            </a:pPr>
            <a:r>
              <a:rPr sz="1500" b="0">
                <a:solidFill>
                  <a:srgbClr val="1F2A37"/>
                </a:solidFill>
                <a:latin typeface="Calibri"/>
              </a:rPr>
              <a:t>Nhu cầu đặt món trực tuyến ngày càng tăng, khách hàng cần tìm món, đặt và theo dõi đơn thuận tiện.</a:t>
            </a:r>
          </a:p>
        </p:txBody>
      </p:sp>
      <p:sp>
        <p:nvSpPr>
          <p:cNvPr id="8" name="Rounded Rectangle 7"/>
          <p:cNvSpPr/>
          <p:nvPr/>
        </p:nvSpPr>
        <p:spPr>
          <a:xfrm>
            <a:off x="822960" y="3611880"/>
            <a:ext cx="5029200" cy="114300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3904488"/>
            <a:ext cx="566928" cy="566928"/>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ore_w.png"/>
          <p:cNvPicPr>
            <a:picLocks noChangeAspect="1"/>
          </p:cNvPicPr>
          <p:nvPr/>
        </p:nvPicPr>
        <p:blipFill>
          <a:blip r:embed="rId4"/>
          <a:stretch>
            <a:fillRect/>
          </a:stretch>
        </p:blipFill>
        <p:spPr>
          <a:xfrm>
            <a:off x="1161288" y="4059936"/>
            <a:ext cx="256031" cy="256031"/>
          </a:xfrm>
          <a:prstGeom prst="rect">
            <a:avLst/>
          </a:prstGeom>
        </p:spPr>
      </p:pic>
      <p:sp>
        <p:nvSpPr>
          <p:cNvPr id="11" name="tb"/>
          <p:cNvSpPr txBox="1"/>
          <p:nvPr/>
        </p:nvSpPr>
        <p:spPr>
          <a:xfrm>
            <a:off x="1783080" y="3703320"/>
            <a:ext cx="3931920" cy="960120"/>
          </a:xfrm>
          <a:prstGeom prst="rect">
            <a:avLst/>
          </a:prstGeom>
          <a:noFill/>
        </p:spPr>
        <p:txBody>
          <a:bodyPr wrap="square" lIns="0" rIns="0" tIns="0" bIns="0" anchor="ctr">
            <a:spAutoFit/>
          </a:bodyPr>
          <a:lstStyle/>
          <a:p>
            <a:pPr algn="l">
              <a:lnSpc>
                <a:spcPct val="100000"/>
              </a:lnSpc>
            </a:pPr>
            <a:r>
              <a:rPr sz="1500" b="0">
                <a:solidFill>
                  <a:srgbClr val="1F2A37"/>
                </a:solidFill>
                <a:latin typeface="Calibri"/>
              </a:rPr>
              <a:t>Gian hàng cần công cụ quản lý thực đơn, đơn hàng, khuyến mãi và doanh thu.</a:t>
            </a:r>
          </a:p>
        </p:txBody>
      </p:sp>
      <p:sp>
        <p:nvSpPr>
          <p:cNvPr id="12" name="Rounded Rectangle 11"/>
          <p:cNvSpPr/>
          <p:nvPr/>
        </p:nvSpPr>
        <p:spPr>
          <a:xfrm>
            <a:off x="822960" y="4937760"/>
            <a:ext cx="5029200" cy="114300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840" y="5230368"/>
            <a:ext cx="566928" cy="566928"/>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ute_w.png"/>
          <p:cNvPicPr>
            <a:picLocks noChangeAspect="1"/>
          </p:cNvPicPr>
          <p:nvPr/>
        </p:nvPicPr>
        <p:blipFill>
          <a:blip r:embed="rId5"/>
          <a:stretch>
            <a:fillRect/>
          </a:stretch>
        </p:blipFill>
        <p:spPr>
          <a:xfrm>
            <a:off x="1161288" y="5385816"/>
            <a:ext cx="256031" cy="256031"/>
          </a:xfrm>
          <a:prstGeom prst="rect">
            <a:avLst/>
          </a:prstGeom>
        </p:spPr>
      </p:pic>
      <p:sp>
        <p:nvSpPr>
          <p:cNvPr id="15" name="tb"/>
          <p:cNvSpPr txBox="1"/>
          <p:nvPr/>
        </p:nvSpPr>
        <p:spPr>
          <a:xfrm>
            <a:off x="1783080" y="5029200"/>
            <a:ext cx="3931920" cy="960120"/>
          </a:xfrm>
          <a:prstGeom prst="rect">
            <a:avLst/>
          </a:prstGeom>
          <a:noFill/>
        </p:spPr>
        <p:txBody>
          <a:bodyPr wrap="square" lIns="0" rIns="0" tIns="0" bIns="0" anchor="ctr">
            <a:spAutoFit/>
          </a:bodyPr>
          <a:lstStyle/>
          <a:p>
            <a:pPr algn="l">
              <a:lnSpc>
                <a:spcPct val="100000"/>
              </a:lnSpc>
            </a:pPr>
            <a:r>
              <a:rPr sz="1500" b="0">
                <a:solidFill>
                  <a:srgbClr val="1F2A37"/>
                </a:solidFill>
                <a:latin typeface="Calibri"/>
              </a:rPr>
              <a:t>Cần một nền tảng kết nối khách hàng – gian hàng – tài xế – quản trị trên cùng một hệ thống.</a:t>
            </a:r>
          </a:p>
        </p:txBody>
      </p:sp>
      <p:sp>
        <p:nvSpPr>
          <p:cNvPr id="16" name="tb"/>
          <p:cNvSpPr txBox="1"/>
          <p:nvPr/>
        </p:nvSpPr>
        <p:spPr>
          <a:xfrm>
            <a:off x="6309360" y="1783080"/>
            <a:ext cx="5029200" cy="365760"/>
          </a:xfrm>
          <a:prstGeom prst="rect">
            <a:avLst/>
          </a:prstGeom>
          <a:noFill/>
        </p:spPr>
        <p:txBody>
          <a:bodyPr wrap="square" lIns="0" rIns="0" tIns="0" bIns="0" anchor="t">
            <a:spAutoFit/>
          </a:bodyPr>
          <a:lstStyle/>
          <a:p>
            <a:pPr algn="l">
              <a:lnSpc>
                <a:spcPct val="100000"/>
              </a:lnSpc>
            </a:pPr>
            <a:r>
              <a:rPr sz="2200" b="1">
                <a:solidFill>
                  <a:srgbClr val="2072B7"/>
                </a:solidFill>
                <a:latin typeface="Calibri"/>
              </a:rPr>
              <a:t>Mục tiêu đề tài</a:t>
            </a:r>
          </a:p>
        </p:txBody>
      </p:sp>
      <p:sp>
        <p:nvSpPr>
          <p:cNvPr id="17" name="Rounded Rectangle 16"/>
          <p:cNvSpPr/>
          <p:nvPr/>
        </p:nvSpPr>
        <p:spPr>
          <a:xfrm>
            <a:off x="6309360" y="2286000"/>
            <a:ext cx="5056632" cy="379476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b"/>
          <p:cNvSpPr txBox="1"/>
          <p:nvPr/>
        </p:nvSpPr>
        <p:spPr>
          <a:xfrm>
            <a:off x="6583680" y="2514600"/>
            <a:ext cx="4526280" cy="3474720"/>
          </a:xfrm>
          <a:prstGeom prst="rect">
            <a:avLst/>
          </a:prstGeom>
          <a:noFill/>
        </p:spPr>
        <p:txBody>
          <a:bodyPr wrap="square" lIns="0" rIns="0" tIns="0" bIns="0" anchor="t">
            <a:spAutoFit/>
          </a:bodyPr>
          <a:lstStyle/>
          <a:p>
            <a:pPr algn="l" marL="201168" indent="-201168">
              <a:lnSpc>
                <a:spcPct val="100000"/>
              </a:lnSpc>
              <a:spcAft>
                <a:spcPts val="900"/>
              </a:spcAft>
              <a:buChar char="•"/>
            </a:pPr>
            <a:r>
              <a:rPr sz="1600" b="0">
                <a:solidFill>
                  <a:srgbClr val="FFFFFF"/>
                </a:solidFill>
                <a:latin typeface="Calibri"/>
              </a:rPr>
              <a:t>Xây dựng website và Web API dùng chung một cơ sở dữ liệu cho ứng dụng di động.</a:t>
            </a:r>
          </a:p>
          <a:p>
            <a:pPr algn="l" marL="201168" indent="-201168">
              <a:lnSpc>
                <a:spcPct val="100000"/>
              </a:lnSpc>
              <a:spcAft>
                <a:spcPts val="900"/>
              </a:spcAft>
              <a:buChar char="•"/>
            </a:pPr>
            <a:r>
              <a:rPr sz="1600" b="0">
                <a:solidFill>
                  <a:srgbClr val="FFFFFF"/>
                </a:solidFill>
                <a:latin typeface="Calibri"/>
              </a:rPr>
              <a:t>Đáp ứng 3 nhóm chức năng: mua hàng, quản lý gian hàng, quản trị – thống kê; bổ sung phân hệ tài xế giao hàng.</a:t>
            </a:r>
          </a:p>
          <a:p>
            <a:pPr algn="l" marL="201168" indent="-201168">
              <a:lnSpc>
                <a:spcPct val="100000"/>
              </a:lnSpc>
              <a:spcAft>
                <a:spcPts val="900"/>
              </a:spcAft>
              <a:buChar char="•"/>
            </a:pPr>
            <a:r>
              <a:rPr sz="1600" b="0">
                <a:solidFill>
                  <a:srgbClr val="FFFFFF"/>
                </a:solidFill>
                <a:latin typeface="Calibri"/>
              </a:rPr>
              <a:t>Tích hợp thanh toán VNPay và tính phí giao hàng theo khoảng cách.</a:t>
            </a:r>
          </a:p>
          <a:p>
            <a:pPr algn="l" marL="201168" indent="-201168">
              <a:lnSpc>
                <a:spcPct val="100000"/>
              </a:lnSpc>
              <a:spcAft>
                <a:spcPts val="900"/>
              </a:spcAft>
              <a:buChar char="•"/>
            </a:pPr>
            <a:r>
              <a:rPr sz="1600" b="0">
                <a:solidFill>
                  <a:srgbClr val="FFFFFF"/>
                </a:solidFill>
                <a:latin typeface="Calibri"/>
              </a:rPr>
              <a:t>Bảo mật tài khoản, phân quyền theo vai trò.</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Đối tượng sử dụng và chức năng chính</a:t>
            </a:r>
          </a:p>
        </p:txBody>
      </p:sp>
      <p:sp>
        <p:nvSpPr>
          <p:cNvPr id="3" name="Rounded Rectangle 2"/>
          <p:cNvSpPr/>
          <p:nvPr/>
        </p:nvSpPr>
        <p:spPr>
          <a:xfrm>
            <a:off x="822960" y="1828800"/>
            <a:ext cx="2468880" cy="4251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2103120"/>
            <a:ext cx="731520" cy="73152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ers_w.png"/>
          <p:cNvPicPr>
            <a:picLocks noChangeAspect="1"/>
          </p:cNvPicPr>
          <p:nvPr/>
        </p:nvPicPr>
        <p:blipFill>
          <a:blip r:embed="rId3"/>
          <a:stretch>
            <a:fillRect/>
          </a:stretch>
        </p:blipFill>
        <p:spPr>
          <a:xfrm>
            <a:off x="1280160" y="2286000"/>
            <a:ext cx="365760" cy="365760"/>
          </a:xfrm>
          <a:prstGeom prst="rect">
            <a:avLst/>
          </a:prstGeom>
        </p:spPr>
      </p:pic>
      <p:sp>
        <p:nvSpPr>
          <p:cNvPr id="6" name="tb"/>
          <p:cNvSpPr txBox="1"/>
          <p:nvPr/>
        </p:nvSpPr>
        <p:spPr>
          <a:xfrm>
            <a:off x="1097280" y="3017520"/>
            <a:ext cx="2011680" cy="457200"/>
          </a:xfrm>
          <a:prstGeom prst="rect">
            <a:avLst/>
          </a:prstGeom>
          <a:noFill/>
        </p:spPr>
        <p:txBody>
          <a:bodyPr wrap="square" lIns="0" rIns="0" tIns="0" bIns="0" anchor="t">
            <a:spAutoFit/>
          </a:bodyPr>
          <a:lstStyle/>
          <a:p>
            <a:pPr algn="l">
              <a:lnSpc>
                <a:spcPct val="100000"/>
              </a:lnSpc>
            </a:pPr>
            <a:r>
              <a:rPr sz="2200" b="1">
                <a:solidFill>
                  <a:srgbClr val="2072B7"/>
                </a:solidFill>
                <a:latin typeface="Calibri"/>
              </a:rPr>
              <a:t>Khách hàng</a:t>
            </a:r>
          </a:p>
        </p:txBody>
      </p:sp>
      <p:sp>
        <p:nvSpPr>
          <p:cNvPr id="7" name="tb"/>
          <p:cNvSpPr txBox="1"/>
          <p:nvPr/>
        </p:nvSpPr>
        <p:spPr>
          <a:xfrm>
            <a:off x="1097280" y="3611880"/>
            <a:ext cx="2011680" cy="2377440"/>
          </a:xfrm>
          <a:prstGeom prst="rect">
            <a:avLst/>
          </a:prstGeom>
          <a:noFill/>
        </p:spPr>
        <p:txBody>
          <a:bodyPr wrap="square" lIns="0" rIns="0" tIns="0" bIns="0" anchor="t">
            <a:spAutoFit/>
          </a:bodyPr>
          <a:lstStyle/>
          <a:p>
            <a:pPr algn="l" marL="201168" indent="-201168">
              <a:lnSpc>
                <a:spcPct val="100000"/>
              </a:lnSpc>
              <a:spcAft>
                <a:spcPts val="800"/>
              </a:spcAft>
              <a:buChar char="•"/>
            </a:pPr>
            <a:r>
              <a:rPr sz="1500" b="0">
                <a:solidFill>
                  <a:srgbClr val="1F2A37"/>
                </a:solidFill>
                <a:latin typeface="Calibri"/>
              </a:rPr>
              <a:t>Tìm gian hàng, món ăn</a:t>
            </a:r>
          </a:p>
          <a:p>
            <a:pPr algn="l" marL="201168" indent="-201168">
              <a:lnSpc>
                <a:spcPct val="100000"/>
              </a:lnSpc>
              <a:spcAft>
                <a:spcPts val="800"/>
              </a:spcAft>
              <a:buChar char="•"/>
            </a:pPr>
            <a:r>
              <a:rPr sz="1500" b="0">
                <a:solidFill>
                  <a:srgbClr val="1F2A37"/>
                </a:solidFill>
                <a:latin typeface="Calibri"/>
              </a:rPr>
              <a:t>Giỏ hàng và đặt hàng</a:t>
            </a:r>
          </a:p>
          <a:p>
            <a:pPr algn="l" marL="201168" indent="-201168">
              <a:lnSpc>
                <a:spcPct val="100000"/>
              </a:lnSpc>
              <a:spcAft>
                <a:spcPts val="800"/>
              </a:spcAft>
              <a:buChar char="•"/>
            </a:pPr>
            <a:r>
              <a:rPr sz="1500" b="0">
                <a:solidFill>
                  <a:srgbClr val="1F2A37"/>
                </a:solidFill>
                <a:latin typeface="Calibri"/>
              </a:rPr>
              <a:t>Thanh toán, khuyến mãi</a:t>
            </a:r>
          </a:p>
          <a:p>
            <a:pPr algn="l" marL="201168" indent="-201168">
              <a:lnSpc>
                <a:spcPct val="100000"/>
              </a:lnSpc>
              <a:spcAft>
                <a:spcPts val="800"/>
              </a:spcAft>
              <a:buChar char="•"/>
            </a:pPr>
            <a:r>
              <a:rPr sz="1500" b="0">
                <a:solidFill>
                  <a:srgbClr val="1F2A37"/>
                </a:solidFill>
                <a:latin typeface="Calibri"/>
              </a:rPr>
              <a:t>Theo dõi, đánh giá, phản hồi</a:t>
            </a:r>
          </a:p>
        </p:txBody>
      </p:sp>
      <p:sp>
        <p:nvSpPr>
          <p:cNvPr id="8" name="Rounded Rectangle 7"/>
          <p:cNvSpPr/>
          <p:nvPr/>
        </p:nvSpPr>
        <p:spPr>
          <a:xfrm>
            <a:off x="3504895" y="1828800"/>
            <a:ext cx="2468880" cy="4251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79215" y="2103120"/>
            <a:ext cx="731520" cy="73152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ore_w.png"/>
          <p:cNvPicPr>
            <a:picLocks noChangeAspect="1"/>
          </p:cNvPicPr>
          <p:nvPr/>
        </p:nvPicPr>
        <p:blipFill>
          <a:blip r:embed="rId4"/>
          <a:stretch>
            <a:fillRect/>
          </a:stretch>
        </p:blipFill>
        <p:spPr>
          <a:xfrm>
            <a:off x="3962095" y="2286000"/>
            <a:ext cx="365760" cy="365760"/>
          </a:xfrm>
          <a:prstGeom prst="rect">
            <a:avLst/>
          </a:prstGeom>
        </p:spPr>
      </p:pic>
      <p:sp>
        <p:nvSpPr>
          <p:cNvPr id="11" name="tb"/>
          <p:cNvSpPr txBox="1"/>
          <p:nvPr/>
        </p:nvSpPr>
        <p:spPr>
          <a:xfrm>
            <a:off x="3779215" y="3017520"/>
            <a:ext cx="2011680" cy="457200"/>
          </a:xfrm>
          <a:prstGeom prst="rect">
            <a:avLst/>
          </a:prstGeom>
          <a:noFill/>
        </p:spPr>
        <p:txBody>
          <a:bodyPr wrap="square" lIns="0" rIns="0" tIns="0" bIns="0" anchor="t">
            <a:spAutoFit/>
          </a:bodyPr>
          <a:lstStyle/>
          <a:p>
            <a:pPr algn="l">
              <a:lnSpc>
                <a:spcPct val="100000"/>
              </a:lnSpc>
            </a:pPr>
            <a:r>
              <a:rPr sz="2200" b="1">
                <a:solidFill>
                  <a:srgbClr val="044F9E"/>
                </a:solidFill>
                <a:latin typeface="Calibri"/>
              </a:rPr>
              <a:t>Gian hàng</a:t>
            </a:r>
          </a:p>
        </p:txBody>
      </p:sp>
      <p:sp>
        <p:nvSpPr>
          <p:cNvPr id="12" name="tb"/>
          <p:cNvSpPr txBox="1"/>
          <p:nvPr/>
        </p:nvSpPr>
        <p:spPr>
          <a:xfrm>
            <a:off x="3779215" y="3611880"/>
            <a:ext cx="2011680" cy="2377440"/>
          </a:xfrm>
          <a:prstGeom prst="rect">
            <a:avLst/>
          </a:prstGeom>
          <a:noFill/>
        </p:spPr>
        <p:txBody>
          <a:bodyPr wrap="square" lIns="0" rIns="0" tIns="0" bIns="0" anchor="t">
            <a:spAutoFit/>
          </a:bodyPr>
          <a:lstStyle/>
          <a:p>
            <a:pPr algn="l" marL="201168" indent="-201168">
              <a:lnSpc>
                <a:spcPct val="100000"/>
              </a:lnSpc>
              <a:spcAft>
                <a:spcPts val="800"/>
              </a:spcAft>
              <a:buChar char="•"/>
            </a:pPr>
            <a:r>
              <a:rPr sz="1500" b="0">
                <a:solidFill>
                  <a:srgbClr val="1F2A37"/>
                </a:solidFill>
                <a:latin typeface="Calibri"/>
              </a:rPr>
              <a:t>Đăng ký, chờ duyệt</a:t>
            </a:r>
          </a:p>
          <a:p>
            <a:pPr algn="l" marL="201168" indent="-201168">
              <a:lnSpc>
                <a:spcPct val="100000"/>
              </a:lnSpc>
              <a:spcAft>
                <a:spcPts val="800"/>
              </a:spcAft>
              <a:buChar char="•"/>
            </a:pPr>
            <a:r>
              <a:rPr sz="1500" b="0">
                <a:solidFill>
                  <a:srgbClr val="1F2A37"/>
                </a:solidFill>
                <a:latin typeface="Calibri"/>
              </a:rPr>
              <a:t>Quản lý thực đơn</a:t>
            </a:r>
          </a:p>
          <a:p>
            <a:pPr algn="l" marL="201168" indent="-201168">
              <a:lnSpc>
                <a:spcPct val="100000"/>
              </a:lnSpc>
              <a:spcAft>
                <a:spcPts val="800"/>
              </a:spcAft>
              <a:buChar char="•"/>
            </a:pPr>
            <a:r>
              <a:rPr sz="1500" b="0">
                <a:solidFill>
                  <a:srgbClr val="1F2A37"/>
                </a:solidFill>
                <a:latin typeface="Calibri"/>
              </a:rPr>
              <a:t>Xác nhận, xử lý đơn</a:t>
            </a:r>
          </a:p>
          <a:p>
            <a:pPr algn="l" marL="201168" indent="-201168">
              <a:lnSpc>
                <a:spcPct val="100000"/>
              </a:lnSpc>
              <a:spcAft>
                <a:spcPts val="800"/>
              </a:spcAft>
              <a:buChar char="•"/>
            </a:pPr>
            <a:r>
              <a:rPr sz="1500" b="0">
                <a:solidFill>
                  <a:srgbClr val="1F2A37"/>
                </a:solidFill>
                <a:latin typeface="Calibri"/>
              </a:rPr>
              <a:t>Khuyến mãi, doanh thu</a:t>
            </a:r>
          </a:p>
        </p:txBody>
      </p:sp>
      <p:sp>
        <p:nvSpPr>
          <p:cNvPr id="13" name="Rounded Rectangle 12"/>
          <p:cNvSpPr/>
          <p:nvPr/>
        </p:nvSpPr>
        <p:spPr>
          <a:xfrm>
            <a:off x="6186830" y="1828800"/>
            <a:ext cx="2468880" cy="4251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150" y="2103120"/>
            <a:ext cx="731520" cy="73152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oto_w.png"/>
          <p:cNvPicPr>
            <a:picLocks noChangeAspect="1"/>
          </p:cNvPicPr>
          <p:nvPr/>
        </p:nvPicPr>
        <p:blipFill>
          <a:blip r:embed="rId5"/>
          <a:stretch>
            <a:fillRect/>
          </a:stretch>
        </p:blipFill>
        <p:spPr>
          <a:xfrm>
            <a:off x="6644030" y="2286000"/>
            <a:ext cx="365760" cy="365760"/>
          </a:xfrm>
          <a:prstGeom prst="rect">
            <a:avLst/>
          </a:prstGeom>
        </p:spPr>
      </p:pic>
      <p:sp>
        <p:nvSpPr>
          <p:cNvPr id="16" name="tb"/>
          <p:cNvSpPr txBox="1"/>
          <p:nvPr/>
        </p:nvSpPr>
        <p:spPr>
          <a:xfrm>
            <a:off x="6461150" y="3017520"/>
            <a:ext cx="2011680" cy="457200"/>
          </a:xfrm>
          <a:prstGeom prst="rect">
            <a:avLst/>
          </a:prstGeom>
          <a:noFill/>
        </p:spPr>
        <p:txBody>
          <a:bodyPr wrap="square" lIns="0" rIns="0" tIns="0" bIns="0" anchor="t">
            <a:spAutoFit/>
          </a:bodyPr>
          <a:lstStyle/>
          <a:p>
            <a:pPr algn="l">
              <a:lnSpc>
                <a:spcPct val="100000"/>
              </a:lnSpc>
            </a:pPr>
            <a:r>
              <a:rPr sz="2200" b="1">
                <a:solidFill>
                  <a:srgbClr val="2072B7"/>
                </a:solidFill>
                <a:latin typeface="Calibri"/>
              </a:rPr>
              <a:t>Tài xế</a:t>
            </a:r>
          </a:p>
        </p:txBody>
      </p:sp>
      <p:sp>
        <p:nvSpPr>
          <p:cNvPr id="17" name="tb"/>
          <p:cNvSpPr txBox="1"/>
          <p:nvPr/>
        </p:nvSpPr>
        <p:spPr>
          <a:xfrm>
            <a:off x="6461150" y="3611880"/>
            <a:ext cx="2011680" cy="2377440"/>
          </a:xfrm>
          <a:prstGeom prst="rect">
            <a:avLst/>
          </a:prstGeom>
          <a:noFill/>
        </p:spPr>
        <p:txBody>
          <a:bodyPr wrap="square" lIns="0" rIns="0" tIns="0" bIns="0" anchor="t">
            <a:spAutoFit/>
          </a:bodyPr>
          <a:lstStyle/>
          <a:p>
            <a:pPr algn="l" marL="201168" indent="-201168">
              <a:lnSpc>
                <a:spcPct val="100000"/>
              </a:lnSpc>
              <a:spcAft>
                <a:spcPts val="800"/>
              </a:spcAft>
              <a:buChar char="•"/>
            </a:pPr>
            <a:r>
              <a:rPr sz="1500" b="0">
                <a:solidFill>
                  <a:srgbClr val="1F2A37"/>
                </a:solidFill>
                <a:latin typeface="Calibri"/>
              </a:rPr>
              <a:t>Tự đăng ký, chờ duyệt</a:t>
            </a:r>
          </a:p>
          <a:p>
            <a:pPr algn="l" marL="201168" indent="-201168">
              <a:lnSpc>
                <a:spcPct val="100000"/>
              </a:lnSpc>
              <a:spcAft>
                <a:spcPts val="800"/>
              </a:spcAft>
              <a:buChar char="•"/>
            </a:pPr>
            <a:r>
              <a:rPr sz="1500" b="0">
                <a:solidFill>
                  <a:srgbClr val="1F2A37"/>
                </a:solidFill>
                <a:latin typeface="Calibri"/>
              </a:rPr>
              <a:t>Nhận đơn chờ giao</a:t>
            </a:r>
          </a:p>
          <a:p>
            <a:pPr algn="l" marL="201168" indent="-201168">
              <a:lnSpc>
                <a:spcPct val="100000"/>
              </a:lnSpc>
              <a:spcAft>
                <a:spcPts val="800"/>
              </a:spcAft>
              <a:buChar char="•"/>
            </a:pPr>
            <a:r>
              <a:rPr sz="1500" b="0">
                <a:solidFill>
                  <a:srgbClr val="1F2A37"/>
                </a:solidFill>
                <a:latin typeface="Calibri"/>
              </a:rPr>
              <a:t>Cập nhật trạng thái giao</a:t>
            </a:r>
          </a:p>
          <a:p>
            <a:pPr algn="l" marL="201168" indent="-201168">
              <a:lnSpc>
                <a:spcPct val="100000"/>
              </a:lnSpc>
              <a:spcAft>
                <a:spcPts val="800"/>
              </a:spcAft>
              <a:buChar char="•"/>
            </a:pPr>
            <a:r>
              <a:rPr sz="1500" b="0">
                <a:solidFill>
                  <a:srgbClr val="1F2A37"/>
                </a:solidFill>
                <a:latin typeface="Calibri"/>
              </a:rPr>
              <a:t>Xem thu nhập</a:t>
            </a:r>
          </a:p>
        </p:txBody>
      </p:sp>
      <p:sp>
        <p:nvSpPr>
          <p:cNvPr id="18" name="Rounded Rectangle 17"/>
          <p:cNvSpPr/>
          <p:nvPr/>
        </p:nvSpPr>
        <p:spPr>
          <a:xfrm>
            <a:off x="8868765" y="1828800"/>
            <a:ext cx="2468880" cy="4251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3085" y="2103120"/>
            <a:ext cx="731520" cy="73152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hield_w.png"/>
          <p:cNvPicPr>
            <a:picLocks noChangeAspect="1"/>
          </p:cNvPicPr>
          <p:nvPr/>
        </p:nvPicPr>
        <p:blipFill>
          <a:blip r:embed="rId6"/>
          <a:stretch>
            <a:fillRect/>
          </a:stretch>
        </p:blipFill>
        <p:spPr>
          <a:xfrm>
            <a:off x="9325965" y="2286000"/>
            <a:ext cx="365760" cy="365760"/>
          </a:xfrm>
          <a:prstGeom prst="rect">
            <a:avLst/>
          </a:prstGeom>
        </p:spPr>
      </p:pic>
      <p:sp>
        <p:nvSpPr>
          <p:cNvPr id="21" name="tb"/>
          <p:cNvSpPr txBox="1"/>
          <p:nvPr/>
        </p:nvSpPr>
        <p:spPr>
          <a:xfrm>
            <a:off x="9143085" y="3017520"/>
            <a:ext cx="2011680" cy="457200"/>
          </a:xfrm>
          <a:prstGeom prst="rect">
            <a:avLst/>
          </a:prstGeom>
          <a:noFill/>
        </p:spPr>
        <p:txBody>
          <a:bodyPr wrap="square" lIns="0" rIns="0" tIns="0" bIns="0" anchor="t">
            <a:spAutoFit/>
          </a:bodyPr>
          <a:lstStyle/>
          <a:p>
            <a:pPr algn="l">
              <a:lnSpc>
                <a:spcPct val="100000"/>
              </a:lnSpc>
            </a:pPr>
            <a:r>
              <a:rPr sz="2200" b="1">
                <a:solidFill>
                  <a:srgbClr val="044F9E"/>
                </a:solidFill>
                <a:latin typeface="Calibri"/>
              </a:rPr>
              <a:t>Quản trị viên</a:t>
            </a:r>
          </a:p>
        </p:txBody>
      </p:sp>
      <p:sp>
        <p:nvSpPr>
          <p:cNvPr id="22" name="tb"/>
          <p:cNvSpPr txBox="1"/>
          <p:nvPr/>
        </p:nvSpPr>
        <p:spPr>
          <a:xfrm>
            <a:off x="9143085" y="3611880"/>
            <a:ext cx="2011680" cy="2377440"/>
          </a:xfrm>
          <a:prstGeom prst="rect">
            <a:avLst/>
          </a:prstGeom>
          <a:noFill/>
        </p:spPr>
        <p:txBody>
          <a:bodyPr wrap="square" lIns="0" rIns="0" tIns="0" bIns="0" anchor="t">
            <a:spAutoFit/>
          </a:bodyPr>
          <a:lstStyle/>
          <a:p>
            <a:pPr algn="l" marL="201168" indent="-201168">
              <a:lnSpc>
                <a:spcPct val="100000"/>
              </a:lnSpc>
              <a:spcAft>
                <a:spcPts val="800"/>
              </a:spcAft>
              <a:buChar char="•"/>
            </a:pPr>
            <a:r>
              <a:rPr sz="1500" b="0">
                <a:solidFill>
                  <a:srgbClr val="1F2A37"/>
                </a:solidFill>
                <a:latin typeface="Calibri"/>
              </a:rPr>
              <a:t>Duyệt gian hàng, tài xế</a:t>
            </a:r>
          </a:p>
          <a:p>
            <a:pPr algn="l" marL="201168" indent="-201168">
              <a:lnSpc>
                <a:spcPct val="100000"/>
              </a:lnSpc>
              <a:spcAft>
                <a:spcPts val="800"/>
              </a:spcAft>
              <a:buChar char="•"/>
            </a:pPr>
            <a:r>
              <a:rPr sz="1500" b="0">
                <a:solidFill>
                  <a:srgbClr val="1F2A37"/>
                </a:solidFill>
                <a:latin typeface="Calibri"/>
              </a:rPr>
              <a:t>Khóa/mở tài khoản</a:t>
            </a:r>
          </a:p>
          <a:p>
            <a:pPr algn="l" marL="201168" indent="-201168">
              <a:lnSpc>
                <a:spcPct val="100000"/>
              </a:lnSpc>
              <a:spcAft>
                <a:spcPts val="800"/>
              </a:spcAft>
              <a:buChar char="•"/>
            </a:pPr>
            <a:r>
              <a:rPr sz="1500" b="0">
                <a:solidFill>
                  <a:srgbClr val="1F2A37"/>
                </a:solidFill>
                <a:latin typeface="Calibri"/>
              </a:rPr>
              <a:t>Khuyến mãi toàn hệ thống</a:t>
            </a:r>
          </a:p>
          <a:p>
            <a:pPr algn="l" marL="201168" indent="-201168">
              <a:lnSpc>
                <a:spcPct val="100000"/>
              </a:lnSpc>
              <a:spcAft>
                <a:spcPts val="800"/>
              </a:spcAft>
              <a:buChar char="•"/>
            </a:pPr>
            <a:r>
              <a:rPr sz="1500" b="0">
                <a:solidFill>
                  <a:srgbClr val="1F2A37"/>
                </a:solidFill>
                <a:latin typeface="Calibri"/>
              </a:rPr>
              <a:t>Thống kê, sự cố, phản hồi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Kết quả khảo sát và phân tích</a:t>
            </a:r>
          </a:p>
        </p:txBody>
      </p:sp>
      <p:sp>
        <p:nvSpPr>
          <p:cNvPr id="3" name="Rounded Rectangle 2"/>
          <p:cNvSpPr/>
          <p:nvPr/>
        </p:nvSpPr>
        <p:spPr>
          <a:xfrm>
            <a:off x="822960" y="1920240"/>
            <a:ext cx="2468880" cy="22860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b"/>
          <p:cNvSpPr txBox="1"/>
          <p:nvPr/>
        </p:nvSpPr>
        <p:spPr>
          <a:xfrm>
            <a:off x="822960" y="2057400"/>
            <a:ext cx="2468880" cy="1188720"/>
          </a:xfrm>
          <a:prstGeom prst="rect">
            <a:avLst/>
          </a:prstGeom>
          <a:noFill/>
        </p:spPr>
        <p:txBody>
          <a:bodyPr wrap="square" lIns="0" rIns="0" tIns="0" bIns="0" anchor="ctr">
            <a:spAutoFit/>
          </a:bodyPr>
          <a:lstStyle/>
          <a:p>
            <a:pPr algn="ctr">
              <a:lnSpc>
                <a:spcPct val="100000"/>
              </a:lnSpc>
            </a:pPr>
            <a:r>
              <a:rPr sz="7200" b="1">
                <a:solidFill>
                  <a:srgbClr val="FFFFFF"/>
                </a:solidFill>
                <a:latin typeface="Calibri"/>
              </a:rPr>
              <a:t>10</a:t>
            </a:r>
          </a:p>
        </p:txBody>
      </p:sp>
      <p:sp>
        <p:nvSpPr>
          <p:cNvPr id="5" name="tb"/>
          <p:cNvSpPr txBox="1"/>
          <p:nvPr/>
        </p:nvSpPr>
        <p:spPr>
          <a:xfrm>
            <a:off x="822960" y="3246120"/>
            <a:ext cx="2468880" cy="411480"/>
          </a:xfrm>
          <a:prstGeom prst="rect">
            <a:avLst/>
          </a:prstGeom>
          <a:noFill/>
        </p:spPr>
        <p:txBody>
          <a:bodyPr wrap="square" lIns="0" rIns="0" tIns="0" bIns="0" anchor="t">
            <a:spAutoFit/>
          </a:bodyPr>
          <a:lstStyle/>
          <a:p>
            <a:pPr algn="ctr">
              <a:lnSpc>
                <a:spcPct val="100000"/>
              </a:lnSpc>
            </a:pPr>
            <a:r>
              <a:rPr sz="1700" b="1">
                <a:solidFill>
                  <a:srgbClr val="FFFFFF"/>
                </a:solidFill>
                <a:latin typeface="Calibri"/>
              </a:rPr>
              <a:t>quy trình nghiệp vụ</a:t>
            </a:r>
          </a:p>
        </p:txBody>
      </p:sp>
      <p:sp>
        <p:nvSpPr>
          <p:cNvPr id="6" name="tb"/>
          <p:cNvSpPr txBox="1"/>
          <p:nvPr/>
        </p:nvSpPr>
        <p:spPr>
          <a:xfrm>
            <a:off x="822960" y="3657600"/>
            <a:ext cx="2468880" cy="365760"/>
          </a:xfrm>
          <a:prstGeom prst="rect">
            <a:avLst/>
          </a:prstGeom>
          <a:noFill/>
        </p:spPr>
        <p:txBody>
          <a:bodyPr wrap="square" lIns="0" rIns="0" tIns="0" bIns="0" anchor="t">
            <a:spAutoFit/>
          </a:bodyPr>
          <a:lstStyle/>
          <a:p>
            <a:pPr algn="ctr">
              <a:lnSpc>
                <a:spcPct val="100000"/>
              </a:lnSpc>
            </a:pPr>
            <a:r>
              <a:rPr sz="1400" b="0">
                <a:solidFill>
                  <a:srgbClr val="DDECFA"/>
                </a:solidFill>
                <a:latin typeface="Calibri"/>
              </a:rPr>
              <a:t>NV01 – NV10</a:t>
            </a:r>
          </a:p>
        </p:txBody>
      </p:sp>
      <p:sp>
        <p:nvSpPr>
          <p:cNvPr id="7" name="Rounded Rectangle 6"/>
          <p:cNvSpPr/>
          <p:nvPr/>
        </p:nvSpPr>
        <p:spPr>
          <a:xfrm>
            <a:off x="3504895" y="1920240"/>
            <a:ext cx="2468880" cy="22860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b"/>
          <p:cNvSpPr txBox="1"/>
          <p:nvPr/>
        </p:nvSpPr>
        <p:spPr>
          <a:xfrm>
            <a:off x="3504895" y="2057400"/>
            <a:ext cx="2468880" cy="1188720"/>
          </a:xfrm>
          <a:prstGeom prst="rect">
            <a:avLst/>
          </a:prstGeom>
          <a:noFill/>
        </p:spPr>
        <p:txBody>
          <a:bodyPr wrap="square" lIns="0" rIns="0" tIns="0" bIns="0" anchor="ctr">
            <a:spAutoFit/>
          </a:bodyPr>
          <a:lstStyle/>
          <a:p>
            <a:pPr algn="ctr">
              <a:lnSpc>
                <a:spcPct val="100000"/>
              </a:lnSpc>
            </a:pPr>
            <a:r>
              <a:rPr sz="7200" b="1">
                <a:solidFill>
                  <a:srgbClr val="FFFFFF"/>
                </a:solidFill>
                <a:latin typeface="Calibri"/>
              </a:rPr>
              <a:t>17</a:t>
            </a:r>
          </a:p>
        </p:txBody>
      </p:sp>
      <p:sp>
        <p:nvSpPr>
          <p:cNvPr id="9" name="tb"/>
          <p:cNvSpPr txBox="1"/>
          <p:nvPr/>
        </p:nvSpPr>
        <p:spPr>
          <a:xfrm>
            <a:off x="3504895" y="3246120"/>
            <a:ext cx="2468880" cy="411480"/>
          </a:xfrm>
          <a:prstGeom prst="rect">
            <a:avLst/>
          </a:prstGeom>
          <a:noFill/>
        </p:spPr>
        <p:txBody>
          <a:bodyPr wrap="square" lIns="0" rIns="0" tIns="0" bIns="0" anchor="t">
            <a:spAutoFit/>
          </a:bodyPr>
          <a:lstStyle/>
          <a:p>
            <a:pPr algn="ctr">
              <a:lnSpc>
                <a:spcPct val="100000"/>
              </a:lnSpc>
            </a:pPr>
            <a:r>
              <a:rPr sz="1700" b="1">
                <a:solidFill>
                  <a:srgbClr val="FFFFFF"/>
                </a:solidFill>
                <a:latin typeface="Calibri"/>
              </a:rPr>
              <a:t>use case hệ thống</a:t>
            </a:r>
          </a:p>
        </p:txBody>
      </p:sp>
      <p:sp>
        <p:nvSpPr>
          <p:cNvPr id="10" name="tb"/>
          <p:cNvSpPr txBox="1"/>
          <p:nvPr/>
        </p:nvSpPr>
        <p:spPr>
          <a:xfrm>
            <a:off x="3504895" y="3657600"/>
            <a:ext cx="2468880" cy="365760"/>
          </a:xfrm>
          <a:prstGeom prst="rect">
            <a:avLst/>
          </a:prstGeom>
          <a:noFill/>
        </p:spPr>
        <p:txBody>
          <a:bodyPr wrap="square" lIns="0" rIns="0" tIns="0" bIns="0" anchor="t">
            <a:spAutoFit/>
          </a:bodyPr>
          <a:lstStyle/>
          <a:p>
            <a:pPr algn="ctr">
              <a:lnSpc>
                <a:spcPct val="100000"/>
              </a:lnSpc>
            </a:pPr>
            <a:r>
              <a:rPr sz="1400" b="0">
                <a:solidFill>
                  <a:srgbClr val="DDECFA"/>
                </a:solidFill>
                <a:latin typeface="Calibri"/>
              </a:rPr>
              <a:t>UC01 – UC17</a:t>
            </a:r>
          </a:p>
        </p:txBody>
      </p:sp>
      <p:sp>
        <p:nvSpPr>
          <p:cNvPr id="11" name="Rounded Rectangle 10"/>
          <p:cNvSpPr/>
          <p:nvPr/>
        </p:nvSpPr>
        <p:spPr>
          <a:xfrm>
            <a:off x="6186830" y="1920240"/>
            <a:ext cx="2468880" cy="22860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b"/>
          <p:cNvSpPr txBox="1"/>
          <p:nvPr/>
        </p:nvSpPr>
        <p:spPr>
          <a:xfrm>
            <a:off x="6186830" y="2057400"/>
            <a:ext cx="2468880" cy="1188720"/>
          </a:xfrm>
          <a:prstGeom prst="rect">
            <a:avLst/>
          </a:prstGeom>
          <a:noFill/>
        </p:spPr>
        <p:txBody>
          <a:bodyPr wrap="square" lIns="0" rIns="0" tIns="0" bIns="0" anchor="ctr">
            <a:spAutoFit/>
          </a:bodyPr>
          <a:lstStyle/>
          <a:p>
            <a:pPr algn="ctr">
              <a:lnSpc>
                <a:spcPct val="100000"/>
              </a:lnSpc>
            </a:pPr>
            <a:r>
              <a:rPr sz="7200" b="1">
                <a:solidFill>
                  <a:srgbClr val="FFFFFF"/>
                </a:solidFill>
                <a:latin typeface="Calibri"/>
              </a:rPr>
              <a:t>8</a:t>
            </a:r>
          </a:p>
        </p:txBody>
      </p:sp>
      <p:sp>
        <p:nvSpPr>
          <p:cNvPr id="13" name="tb"/>
          <p:cNvSpPr txBox="1"/>
          <p:nvPr/>
        </p:nvSpPr>
        <p:spPr>
          <a:xfrm>
            <a:off x="6186830" y="3246120"/>
            <a:ext cx="2468880" cy="411480"/>
          </a:xfrm>
          <a:prstGeom prst="rect">
            <a:avLst/>
          </a:prstGeom>
          <a:noFill/>
        </p:spPr>
        <p:txBody>
          <a:bodyPr wrap="square" lIns="0" rIns="0" tIns="0" bIns="0" anchor="t">
            <a:spAutoFit/>
          </a:bodyPr>
          <a:lstStyle/>
          <a:p>
            <a:pPr algn="ctr">
              <a:lnSpc>
                <a:spcPct val="100000"/>
              </a:lnSpc>
            </a:pPr>
            <a:r>
              <a:rPr sz="1700" b="1">
                <a:solidFill>
                  <a:srgbClr val="FFFFFF"/>
                </a:solidFill>
                <a:latin typeface="Calibri"/>
              </a:rPr>
              <a:t>use case tài xế</a:t>
            </a:r>
          </a:p>
        </p:txBody>
      </p:sp>
      <p:sp>
        <p:nvSpPr>
          <p:cNvPr id="14" name="tb"/>
          <p:cNvSpPr txBox="1"/>
          <p:nvPr/>
        </p:nvSpPr>
        <p:spPr>
          <a:xfrm>
            <a:off x="6186830" y="3657600"/>
            <a:ext cx="2468880" cy="365760"/>
          </a:xfrm>
          <a:prstGeom prst="rect">
            <a:avLst/>
          </a:prstGeom>
          <a:noFill/>
        </p:spPr>
        <p:txBody>
          <a:bodyPr wrap="square" lIns="0" rIns="0" tIns="0" bIns="0" anchor="t">
            <a:spAutoFit/>
          </a:bodyPr>
          <a:lstStyle/>
          <a:p>
            <a:pPr algn="ctr">
              <a:lnSpc>
                <a:spcPct val="100000"/>
              </a:lnSpc>
            </a:pPr>
            <a:r>
              <a:rPr sz="1400" b="0">
                <a:solidFill>
                  <a:srgbClr val="DDECFA"/>
                </a:solidFill>
                <a:latin typeface="Calibri"/>
              </a:rPr>
              <a:t>UC-TX01 – TX08</a:t>
            </a:r>
          </a:p>
        </p:txBody>
      </p:sp>
      <p:sp>
        <p:nvSpPr>
          <p:cNvPr id="15" name="Rounded Rectangle 14"/>
          <p:cNvSpPr/>
          <p:nvPr/>
        </p:nvSpPr>
        <p:spPr>
          <a:xfrm>
            <a:off x="8868765" y="1920240"/>
            <a:ext cx="2468880" cy="22860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b"/>
          <p:cNvSpPr txBox="1"/>
          <p:nvPr/>
        </p:nvSpPr>
        <p:spPr>
          <a:xfrm>
            <a:off x="8868765" y="2057400"/>
            <a:ext cx="2468880" cy="1188720"/>
          </a:xfrm>
          <a:prstGeom prst="rect">
            <a:avLst/>
          </a:prstGeom>
          <a:noFill/>
        </p:spPr>
        <p:txBody>
          <a:bodyPr wrap="square" lIns="0" rIns="0" tIns="0" bIns="0" anchor="ctr">
            <a:spAutoFit/>
          </a:bodyPr>
          <a:lstStyle/>
          <a:p>
            <a:pPr algn="ctr">
              <a:lnSpc>
                <a:spcPct val="100000"/>
              </a:lnSpc>
            </a:pPr>
            <a:r>
              <a:rPr sz="7200" b="1">
                <a:solidFill>
                  <a:srgbClr val="FFFFFF"/>
                </a:solidFill>
                <a:latin typeface="Calibri"/>
              </a:rPr>
              <a:t>9</a:t>
            </a:r>
          </a:p>
        </p:txBody>
      </p:sp>
      <p:sp>
        <p:nvSpPr>
          <p:cNvPr id="17" name="tb"/>
          <p:cNvSpPr txBox="1"/>
          <p:nvPr/>
        </p:nvSpPr>
        <p:spPr>
          <a:xfrm>
            <a:off x="8868765" y="3246120"/>
            <a:ext cx="2468880" cy="411480"/>
          </a:xfrm>
          <a:prstGeom prst="rect">
            <a:avLst/>
          </a:prstGeom>
          <a:noFill/>
        </p:spPr>
        <p:txBody>
          <a:bodyPr wrap="square" lIns="0" rIns="0" tIns="0" bIns="0" anchor="t">
            <a:spAutoFit/>
          </a:bodyPr>
          <a:lstStyle/>
          <a:p>
            <a:pPr algn="ctr">
              <a:lnSpc>
                <a:spcPct val="100000"/>
              </a:lnSpc>
            </a:pPr>
            <a:r>
              <a:rPr sz="1700" b="1">
                <a:solidFill>
                  <a:srgbClr val="FFFFFF"/>
                </a:solidFill>
                <a:latin typeface="Calibri"/>
              </a:rPr>
              <a:t>use case quản trị viên</a:t>
            </a:r>
          </a:p>
        </p:txBody>
      </p:sp>
      <p:sp>
        <p:nvSpPr>
          <p:cNvPr id="18" name="tb"/>
          <p:cNvSpPr txBox="1"/>
          <p:nvPr/>
        </p:nvSpPr>
        <p:spPr>
          <a:xfrm>
            <a:off x="8868765" y="3657600"/>
            <a:ext cx="2468880" cy="365760"/>
          </a:xfrm>
          <a:prstGeom prst="rect">
            <a:avLst/>
          </a:prstGeom>
          <a:noFill/>
        </p:spPr>
        <p:txBody>
          <a:bodyPr wrap="square" lIns="0" rIns="0" tIns="0" bIns="0" anchor="t">
            <a:spAutoFit/>
          </a:bodyPr>
          <a:lstStyle/>
          <a:p>
            <a:pPr algn="ctr">
              <a:lnSpc>
                <a:spcPct val="100000"/>
              </a:lnSpc>
            </a:pPr>
            <a:r>
              <a:rPr sz="1400" b="0">
                <a:solidFill>
                  <a:srgbClr val="DDECFA"/>
                </a:solidFill>
                <a:latin typeface="Calibri"/>
              </a:rPr>
              <a:t>UC-QT01 – QT09</a:t>
            </a:r>
          </a:p>
        </p:txBody>
      </p:sp>
      <p:sp>
        <p:nvSpPr>
          <p:cNvPr id="19" name="tb"/>
          <p:cNvSpPr txBox="1"/>
          <p:nvPr/>
        </p:nvSpPr>
        <p:spPr>
          <a:xfrm>
            <a:off x="822960" y="4572000"/>
            <a:ext cx="10515600" cy="365760"/>
          </a:xfrm>
          <a:prstGeom prst="rect">
            <a:avLst/>
          </a:prstGeom>
          <a:noFill/>
        </p:spPr>
        <p:txBody>
          <a:bodyPr wrap="square" lIns="0" rIns="0" tIns="0" bIns="0" anchor="t">
            <a:spAutoFit/>
          </a:bodyPr>
          <a:lstStyle/>
          <a:p>
            <a:pPr algn="l">
              <a:lnSpc>
                <a:spcPct val="100000"/>
              </a:lnSpc>
            </a:pPr>
            <a:r>
              <a:rPr sz="1600" b="1">
                <a:solidFill>
                  <a:srgbClr val="2072B7"/>
                </a:solidFill>
                <a:latin typeface="Calibri"/>
              </a:rPr>
              <a:t>Mỗi quy trình và use case được mô hình hóa bằng:</a:t>
            </a:r>
          </a:p>
        </p:txBody>
      </p:sp>
      <p:sp>
        <p:nvSpPr>
          <p:cNvPr id="20" name="Rounded Rectangle 19"/>
          <p:cNvSpPr/>
          <p:nvPr/>
        </p:nvSpPr>
        <p:spPr>
          <a:xfrm>
            <a:off x="822960" y="5074920"/>
            <a:ext cx="2468880" cy="777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0120" y="5184648"/>
            <a:ext cx="548640" cy="548640"/>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w.png"/>
          <p:cNvPicPr>
            <a:picLocks noChangeAspect="1"/>
          </p:cNvPicPr>
          <p:nvPr/>
        </p:nvPicPr>
        <p:blipFill>
          <a:blip r:embed="rId3"/>
          <a:stretch>
            <a:fillRect/>
          </a:stretch>
        </p:blipFill>
        <p:spPr>
          <a:xfrm>
            <a:off x="1097280" y="5321808"/>
            <a:ext cx="274320" cy="274320"/>
          </a:xfrm>
          <a:prstGeom prst="rect">
            <a:avLst/>
          </a:prstGeom>
        </p:spPr>
      </p:pic>
      <p:sp>
        <p:nvSpPr>
          <p:cNvPr id="23" name="tb"/>
          <p:cNvSpPr txBox="1"/>
          <p:nvPr/>
        </p:nvSpPr>
        <p:spPr>
          <a:xfrm>
            <a:off x="1645920" y="5074920"/>
            <a:ext cx="1600200" cy="77724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Đặc tả chi tiết</a:t>
            </a:r>
          </a:p>
        </p:txBody>
      </p:sp>
      <p:sp>
        <p:nvSpPr>
          <p:cNvPr id="24" name="Rounded Rectangle 23"/>
          <p:cNvSpPr/>
          <p:nvPr/>
        </p:nvSpPr>
        <p:spPr>
          <a:xfrm>
            <a:off x="3504895" y="5074920"/>
            <a:ext cx="2468880" cy="777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642055" y="5184648"/>
            <a:ext cx="548640" cy="548640"/>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eck_w.png"/>
          <p:cNvPicPr>
            <a:picLocks noChangeAspect="1"/>
          </p:cNvPicPr>
          <p:nvPr/>
        </p:nvPicPr>
        <p:blipFill>
          <a:blip r:embed="rId3"/>
          <a:stretch>
            <a:fillRect/>
          </a:stretch>
        </p:blipFill>
        <p:spPr>
          <a:xfrm>
            <a:off x="3779215" y="5321808"/>
            <a:ext cx="274320" cy="274320"/>
          </a:xfrm>
          <a:prstGeom prst="rect">
            <a:avLst/>
          </a:prstGeom>
        </p:spPr>
      </p:pic>
      <p:sp>
        <p:nvSpPr>
          <p:cNvPr id="27" name="tb"/>
          <p:cNvSpPr txBox="1"/>
          <p:nvPr/>
        </p:nvSpPr>
        <p:spPr>
          <a:xfrm>
            <a:off x="4327855" y="5074920"/>
            <a:ext cx="1600200" cy="77724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Sơ đồ hoạt động</a:t>
            </a:r>
          </a:p>
        </p:txBody>
      </p:sp>
      <p:sp>
        <p:nvSpPr>
          <p:cNvPr id="28" name="Rounded Rectangle 27"/>
          <p:cNvSpPr/>
          <p:nvPr/>
        </p:nvSpPr>
        <p:spPr>
          <a:xfrm>
            <a:off x="6186830" y="5074920"/>
            <a:ext cx="2468880" cy="777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23990" y="5184648"/>
            <a:ext cx="548640" cy="548640"/>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heck_w.png"/>
          <p:cNvPicPr>
            <a:picLocks noChangeAspect="1"/>
          </p:cNvPicPr>
          <p:nvPr/>
        </p:nvPicPr>
        <p:blipFill>
          <a:blip r:embed="rId3"/>
          <a:stretch>
            <a:fillRect/>
          </a:stretch>
        </p:blipFill>
        <p:spPr>
          <a:xfrm>
            <a:off x="6461150" y="5321808"/>
            <a:ext cx="274320" cy="274320"/>
          </a:xfrm>
          <a:prstGeom prst="rect">
            <a:avLst/>
          </a:prstGeom>
        </p:spPr>
      </p:pic>
      <p:sp>
        <p:nvSpPr>
          <p:cNvPr id="31" name="tb"/>
          <p:cNvSpPr txBox="1"/>
          <p:nvPr/>
        </p:nvSpPr>
        <p:spPr>
          <a:xfrm>
            <a:off x="7009790" y="5074920"/>
            <a:ext cx="1600200" cy="77724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Sơ đồ tuần tự</a:t>
            </a:r>
          </a:p>
        </p:txBody>
      </p:sp>
      <p:sp>
        <p:nvSpPr>
          <p:cNvPr id="32" name="Rounded Rectangle 31"/>
          <p:cNvSpPr/>
          <p:nvPr/>
        </p:nvSpPr>
        <p:spPr>
          <a:xfrm>
            <a:off x="8868765" y="5074920"/>
            <a:ext cx="2468880" cy="777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005925" y="5184648"/>
            <a:ext cx="548640" cy="548640"/>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heck_w.png"/>
          <p:cNvPicPr>
            <a:picLocks noChangeAspect="1"/>
          </p:cNvPicPr>
          <p:nvPr/>
        </p:nvPicPr>
        <p:blipFill>
          <a:blip r:embed="rId3"/>
          <a:stretch>
            <a:fillRect/>
          </a:stretch>
        </p:blipFill>
        <p:spPr>
          <a:xfrm>
            <a:off x="9143085" y="5321808"/>
            <a:ext cx="274320" cy="274320"/>
          </a:xfrm>
          <a:prstGeom prst="rect">
            <a:avLst/>
          </a:prstGeom>
        </p:spPr>
      </p:pic>
      <p:sp>
        <p:nvSpPr>
          <p:cNvPr id="35" name="tb"/>
          <p:cNvSpPr txBox="1"/>
          <p:nvPr/>
        </p:nvSpPr>
        <p:spPr>
          <a:xfrm>
            <a:off x="9691725" y="5074920"/>
            <a:ext cx="1600200" cy="77724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Sơ đồ lớp, sơ đồ trạng thái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Kiến trúc hệ thống ba tầng</a:t>
            </a:r>
          </a:p>
        </p:txBody>
      </p:sp>
      <p:sp>
        <p:nvSpPr>
          <p:cNvPr id="3" name="Rounded Rectangle 2"/>
          <p:cNvSpPr/>
          <p:nvPr/>
        </p:nvSpPr>
        <p:spPr>
          <a:xfrm>
            <a:off x="822960" y="1828800"/>
            <a:ext cx="2834640" cy="4206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828800"/>
            <a:ext cx="2834640" cy="54864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b"/>
          <p:cNvSpPr txBox="1"/>
          <p:nvPr/>
        </p:nvSpPr>
        <p:spPr>
          <a:xfrm>
            <a:off x="822960" y="1828800"/>
            <a:ext cx="2834640" cy="54864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TẦNG TRÌNH BÀY</a:t>
            </a:r>
          </a:p>
        </p:txBody>
      </p:sp>
      <p:sp>
        <p:nvSpPr>
          <p:cNvPr id="6" name="Rounded Rectangle 5"/>
          <p:cNvSpPr/>
          <p:nvPr/>
        </p:nvSpPr>
        <p:spPr>
          <a:xfrm>
            <a:off x="4526280" y="1828800"/>
            <a:ext cx="3429000" cy="4206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26280" y="1828800"/>
            <a:ext cx="3429000" cy="54864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b"/>
          <p:cNvSpPr txBox="1"/>
          <p:nvPr/>
        </p:nvSpPr>
        <p:spPr>
          <a:xfrm>
            <a:off x="4526280" y="1828800"/>
            <a:ext cx="3429000" cy="54864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TẦNG ỨNG DỤNG – ASP.NET Core 8</a:t>
            </a:r>
          </a:p>
        </p:txBody>
      </p:sp>
      <p:sp>
        <p:nvSpPr>
          <p:cNvPr id="9" name="Rounded Rectangle 8"/>
          <p:cNvSpPr/>
          <p:nvPr/>
        </p:nvSpPr>
        <p:spPr>
          <a:xfrm>
            <a:off x="8503920" y="1828800"/>
            <a:ext cx="2862072" cy="4206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03920" y="1828800"/>
            <a:ext cx="2862072" cy="54864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b"/>
          <p:cNvSpPr txBox="1"/>
          <p:nvPr/>
        </p:nvSpPr>
        <p:spPr>
          <a:xfrm>
            <a:off x="8503920" y="1828800"/>
            <a:ext cx="2862072" cy="548640"/>
          </a:xfrm>
          <a:prstGeom prst="rect">
            <a:avLst/>
          </a:prstGeom>
          <a:noFill/>
        </p:spPr>
        <p:txBody>
          <a:bodyPr wrap="square" lIns="0" rIns="0" tIns="0" bIns="0" anchor="ctr">
            <a:spAutoFit/>
          </a:bodyPr>
          <a:lstStyle/>
          <a:p>
            <a:pPr algn="ctr">
              <a:lnSpc>
                <a:spcPct val="100000"/>
              </a:lnSpc>
            </a:pPr>
            <a:r>
              <a:rPr sz="1500" b="1">
                <a:solidFill>
                  <a:srgbClr val="FFFFFF"/>
                </a:solidFill>
                <a:latin typeface="Calibri"/>
              </a:rPr>
              <a:t>TẦNG DỮ LIỆU</a:t>
            </a:r>
          </a:p>
        </p:txBody>
      </p:sp>
      <p:sp>
        <p:nvSpPr>
          <p:cNvPr id="12" name="Rounded Rectangle 11"/>
          <p:cNvSpPr/>
          <p:nvPr/>
        </p:nvSpPr>
        <p:spPr>
          <a:xfrm>
            <a:off x="1005840" y="2606040"/>
            <a:ext cx="2468880" cy="1051560"/>
          </a:xfrm>
          <a:prstGeom prst="roundRect">
            <a:avLst>
              <a:gd name="adj" fmla="val 6000"/>
            </a:avLst>
          </a:prstGeom>
          <a:solidFill>
            <a:srgbClr val="FFFFFF"/>
          </a:solidFill>
          <a:ln w="12700">
            <a:solidFill>
              <a:srgbClr val="D3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43000" y="2903220"/>
            <a:ext cx="457200" cy="4572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aptop_w.png"/>
          <p:cNvPicPr>
            <a:picLocks noChangeAspect="1"/>
          </p:cNvPicPr>
          <p:nvPr/>
        </p:nvPicPr>
        <p:blipFill>
          <a:blip r:embed="rId3"/>
          <a:stretch>
            <a:fillRect/>
          </a:stretch>
        </p:blipFill>
        <p:spPr>
          <a:xfrm>
            <a:off x="1261872" y="3022091"/>
            <a:ext cx="219456" cy="219456"/>
          </a:xfrm>
          <a:prstGeom prst="rect">
            <a:avLst/>
          </a:prstGeom>
        </p:spPr>
      </p:pic>
      <p:sp>
        <p:nvSpPr>
          <p:cNvPr id="15" name="tb"/>
          <p:cNvSpPr txBox="1"/>
          <p:nvPr/>
        </p:nvSpPr>
        <p:spPr>
          <a:xfrm>
            <a:off x="1737360" y="2697480"/>
            <a:ext cx="1645920" cy="86868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Website</a:t>
            </a:r>
          </a:p>
          <a:p>
            <a:pPr algn="l">
              <a:lnSpc>
                <a:spcPct val="100000"/>
              </a:lnSpc>
            </a:pPr>
            <a:r>
              <a:rPr sz="1200" b="0">
                <a:solidFill>
                  <a:srgbClr val="5B6775"/>
                </a:solidFill>
                <a:latin typeface="Calibri"/>
              </a:rPr>
              <a:t>Razor MVC, xác thực cookie</a:t>
            </a:r>
          </a:p>
        </p:txBody>
      </p:sp>
      <p:sp>
        <p:nvSpPr>
          <p:cNvPr id="16" name="Rounded Rectangle 15"/>
          <p:cNvSpPr/>
          <p:nvPr/>
        </p:nvSpPr>
        <p:spPr>
          <a:xfrm>
            <a:off x="1005840" y="3840480"/>
            <a:ext cx="2468880" cy="1051560"/>
          </a:xfrm>
          <a:prstGeom prst="roundRect">
            <a:avLst>
              <a:gd name="adj" fmla="val 6000"/>
            </a:avLst>
          </a:prstGeom>
          <a:solidFill>
            <a:srgbClr val="FFFFFF"/>
          </a:solidFill>
          <a:ln w="12700">
            <a:solidFill>
              <a:srgbClr val="D3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43000" y="4137660"/>
            <a:ext cx="457200" cy="4572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mobile_w.png"/>
          <p:cNvPicPr>
            <a:picLocks noChangeAspect="1"/>
          </p:cNvPicPr>
          <p:nvPr/>
        </p:nvPicPr>
        <p:blipFill>
          <a:blip r:embed="rId4"/>
          <a:stretch>
            <a:fillRect/>
          </a:stretch>
        </p:blipFill>
        <p:spPr>
          <a:xfrm>
            <a:off x="1261872" y="4256532"/>
            <a:ext cx="219456" cy="219456"/>
          </a:xfrm>
          <a:prstGeom prst="rect">
            <a:avLst/>
          </a:prstGeom>
        </p:spPr>
      </p:pic>
      <p:sp>
        <p:nvSpPr>
          <p:cNvPr id="19" name="tb"/>
          <p:cNvSpPr txBox="1"/>
          <p:nvPr/>
        </p:nvSpPr>
        <p:spPr>
          <a:xfrm>
            <a:off x="1737360" y="3931920"/>
            <a:ext cx="1645920" cy="86868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Ứng dụng di động</a:t>
            </a:r>
          </a:p>
          <a:p>
            <a:pPr algn="l">
              <a:lnSpc>
                <a:spcPct val="100000"/>
              </a:lnSpc>
            </a:pPr>
            <a:r>
              <a:rPr sz="1200" b="0">
                <a:solidFill>
                  <a:srgbClr val="5B6775"/>
                </a:solidFill>
                <a:latin typeface="Calibri"/>
              </a:rPr>
              <a:t>.NET MAUI</a:t>
            </a:r>
          </a:p>
        </p:txBody>
      </p:sp>
      <p:sp>
        <p:nvSpPr>
          <p:cNvPr id="20" name="Rounded Rectangle 19"/>
          <p:cNvSpPr/>
          <p:nvPr/>
        </p:nvSpPr>
        <p:spPr>
          <a:xfrm>
            <a:off x="4709160" y="2606040"/>
            <a:ext cx="3063240" cy="868680"/>
          </a:xfrm>
          <a:prstGeom prst="roundRect">
            <a:avLst>
              <a:gd name="adj" fmla="val 6000"/>
            </a:avLst>
          </a:prstGeom>
          <a:solidFill>
            <a:srgbClr val="FFFFFF"/>
          </a:solidFill>
          <a:ln w="12700">
            <a:solidFill>
              <a:srgbClr val="D3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46320" y="2811780"/>
            <a:ext cx="457200" cy="4572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gs_w.png"/>
          <p:cNvPicPr>
            <a:picLocks noChangeAspect="1"/>
          </p:cNvPicPr>
          <p:nvPr/>
        </p:nvPicPr>
        <p:blipFill>
          <a:blip r:embed="rId5"/>
          <a:stretch>
            <a:fillRect/>
          </a:stretch>
        </p:blipFill>
        <p:spPr>
          <a:xfrm>
            <a:off x="4965192" y="2930652"/>
            <a:ext cx="219456" cy="219456"/>
          </a:xfrm>
          <a:prstGeom prst="rect">
            <a:avLst/>
          </a:prstGeom>
        </p:spPr>
      </p:pic>
      <p:sp>
        <p:nvSpPr>
          <p:cNvPr id="23" name="tb"/>
          <p:cNvSpPr txBox="1"/>
          <p:nvPr/>
        </p:nvSpPr>
        <p:spPr>
          <a:xfrm>
            <a:off x="5440680" y="2697480"/>
            <a:ext cx="2240280" cy="68580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MVC Controllers</a:t>
            </a:r>
          </a:p>
          <a:p>
            <a:pPr algn="l">
              <a:lnSpc>
                <a:spcPct val="100000"/>
              </a:lnSpc>
            </a:pPr>
            <a:r>
              <a:rPr sz="1200" b="0">
                <a:solidFill>
                  <a:srgbClr val="5B6775"/>
                </a:solidFill>
                <a:latin typeface="Calibri"/>
              </a:rPr>
              <a:t>Khách, gian hàng, tài xế, quản trị</a:t>
            </a:r>
          </a:p>
        </p:txBody>
      </p:sp>
      <p:sp>
        <p:nvSpPr>
          <p:cNvPr id="24" name="Rounded Rectangle 23"/>
          <p:cNvSpPr/>
          <p:nvPr/>
        </p:nvSpPr>
        <p:spPr>
          <a:xfrm>
            <a:off x="4709160" y="3611880"/>
            <a:ext cx="3063240" cy="868680"/>
          </a:xfrm>
          <a:prstGeom prst="roundRect">
            <a:avLst>
              <a:gd name="adj" fmla="val 6000"/>
            </a:avLst>
          </a:prstGeom>
          <a:solidFill>
            <a:srgbClr val="FFFFFF"/>
          </a:solidFill>
          <a:ln w="12700">
            <a:solidFill>
              <a:srgbClr val="D3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46320" y="3817620"/>
            <a:ext cx="457200" cy="4572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ck_w.png"/>
          <p:cNvPicPr>
            <a:picLocks noChangeAspect="1"/>
          </p:cNvPicPr>
          <p:nvPr/>
        </p:nvPicPr>
        <p:blipFill>
          <a:blip r:embed="rId6"/>
          <a:stretch>
            <a:fillRect/>
          </a:stretch>
        </p:blipFill>
        <p:spPr>
          <a:xfrm>
            <a:off x="4965192" y="3936491"/>
            <a:ext cx="219456" cy="219456"/>
          </a:xfrm>
          <a:prstGeom prst="rect">
            <a:avLst/>
          </a:prstGeom>
        </p:spPr>
      </p:pic>
      <p:sp>
        <p:nvSpPr>
          <p:cNvPr id="27" name="tb"/>
          <p:cNvSpPr txBox="1"/>
          <p:nvPr/>
        </p:nvSpPr>
        <p:spPr>
          <a:xfrm>
            <a:off x="5440680" y="3703320"/>
            <a:ext cx="2240280" cy="68580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Web API</a:t>
            </a:r>
          </a:p>
          <a:p>
            <a:pPr algn="l">
              <a:lnSpc>
                <a:spcPct val="100000"/>
              </a:lnSpc>
            </a:pPr>
            <a:r>
              <a:rPr sz="1200" b="0">
                <a:solidFill>
                  <a:srgbClr val="5B6775"/>
                </a:solidFill>
                <a:latin typeface="Calibri"/>
              </a:rPr>
              <a:t>JWT Bearer, Swagger</a:t>
            </a:r>
          </a:p>
        </p:txBody>
      </p:sp>
      <p:sp>
        <p:nvSpPr>
          <p:cNvPr id="28" name="Rounded Rectangle 27"/>
          <p:cNvSpPr/>
          <p:nvPr/>
        </p:nvSpPr>
        <p:spPr>
          <a:xfrm>
            <a:off x="4709160" y="4617720"/>
            <a:ext cx="3063240" cy="868680"/>
          </a:xfrm>
          <a:prstGeom prst="roundRect">
            <a:avLst>
              <a:gd name="adj" fmla="val 6000"/>
            </a:avLst>
          </a:prstGeom>
          <a:solidFill>
            <a:srgbClr val="FFFFFF"/>
          </a:solidFill>
          <a:ln w="12700">
            <a:solidFill>
              <a:srgbClr val="D3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846320" y="4823459"/>
            <a:ext cx="457200" cy="4572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art_w.png"/>
          <p:cNvPicPr>
            <a:picLocks noChangeAspect="1"/>
          </p:cNvPicPr>
          <p:nvPr/>
        </p:nvPicPr>
        <p:blipFill>
          <a:blip r:embed="rId7"/>
          <a:stretch>
            <a:fillRect/>
          </a:stretch>
        </p:blipFill>
        <p:spPr>
          <a:xfrm>
            <a:off x="4965192" y="4942331"/>
            <a:ext cx="219456" cy="219456"/>
          </a:xfrm>
          <a:prstGeom prst="rect">
            <a:avLst/>
          </a:prstGeom>
        </p:spPr>
      </p:pic>
      <p:sp>
        <p:nvSpPr>
          <p:cNvPr id="31" name="tb"/>
          <p:cNvSpPr txBox="1"/>
          <p:nvPr/>
        </p:nvSpPr>
        <p:spPr>
          <a:xfrm>
            <a:off x="5440680" y="4709159"/>
            <a:ext cx="2240280" cy="68580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Services</a:t>
            </a:r>
          </a:p>
          <a:p>
            <a:pPr algn="l">
              <a:lnSpc>
                <a:spcPct val="100000"/>
              </a:lnSpc>
            </a:pPr>
            <a:r>
              <a:rPr sz="1200" b="0">
                <a:solidFill>
                  <a:srgbClr val="5B6775"/>
                </a:solidFill>
                <a:latin typeface="Calibri"/>
              </a:rPr>
              <a:t>Giỏ hàng, thanh toán, bản đồ, lưu ảnh</a:t>
            </a:r>
          </a:p>
        </p:txBody>
      </p:sp>
      <p:sp>
        <p:nvSpPr>
          <p:cNvPr id="32" name="Rounded Rectangle 31"/>
          <p:cNvSpPr/>
          <p:nvPr/>
        </p:nvSpPr>
        <p:spPr>
          <a:xfrm>
            <a:off x="8686800" y="2606040"/>
            <a:ext cx="2514600" cy="1051560"/>
          </a:xfrm>
          <a:prstGeom prst="roundRect">
            <a:avLst>
              <a:gd name="adj" fmla="val 6000"/>
            </a:avLst>
          </a:prstGeom>
          <a:solidFill>
            <a:srgbClr val="FFFFFF"/>
          </a:solidFill>
          <a:ln w="12700">
            <a:solidFill>
              <a:srgbClr val="D3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823960" y="2903220"/>
            <a:ext cx="457200" cy="4572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db_w.png"/>
          <p:cNvPicPr>
            <a:picLocks noChangeAspect="1"/>
          </p:cNvPicPr>
          <p:nvPr/>
        </p:nvPicPr>
        <p:blipFill>
          <a:blip r:embed="rId8"/>
          <a:stretch>
            <a:fillRect/>
          </a:stretch>
        </p:blipFill>
        <p:spPr>
          <a:xfrm>
            <a:off x="8942832" y="3022091"/>
            <a:ext cx="219456" cy="219456"/>
          </a:xfrm>
          <a:prstGeom prst="rect">
            <a:avLst/>
          </a:prstGeom>
        </p:spPr>
      </p:pic>
      <p:sp>
        <p:nvSpPr>
          <p:cNvPr id="35" name="tb"/>
          <p:cNvSpPr txBox="1"/>
          <p:nvPr/>
        </p:nvSpPr>
        <p:spPr>
          <a:xfrm>
            <a:off x="9418320" y="2697480"/>
            <a:ext cx="1691640" cy="86868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SQL Server</a:t>
            </a:r>
          </a:p>
          <a:p>
            <a:pPr algn="l">
              <a:lnSpc>
                <a:spcPct val="100000"/>
              </a:lnSpc>
            </a:pPr>
            <a:r>
              <a:rPr sz="1200" b="0">
                <a:solidFill>
                  <a:srgbClr val="5B6775"/>
                </a:solidFill>
                <a:latin typeface="Calibri"/>
              </a:rPr>
              <a:t>QuanLyDichVuAnUong, 16 bảng</a:t>
            </a:r>
          </a:p>
        </p:txBody>
      </p:sp>
      <p:sp>
        <p:nvSpPr>
          <p:cNvPr id="36" name="Rounded Rectangle 35"/>
          <p:cNvSpPr/>
          <p:nvPr/>
        </p:nvSpPr>
        <p:spPr>
          <a:xfrm>
            <a:off x="8686800" y="3840480"/>
            <a:ext cx="2514600" cy="1051560"/>
          </a:xfrm>
          <a:prstGeom prst="roundRect">
            <a:avLst>
              <a:gd name="adj" fmla="val 6000"/>
            </a:avLst>
          </a:prstGeom>
          <a:solidFill>
            <a:srgbClr val="FFFFFF"/>
          </a:solidFill>
          <a:ln w="12700">
            <a:solidFill>
              <a:srgbClr val="D3E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823960" y="4137660"/>
            <a:ext cx="457200" cy="4572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ist_w.png"/>
          <p:cNvPicPr>
            <a:picLocks noChangeAspect="1"/>
          </p:cNvPicPr>
          <p:nvPr/>
        </p:nvPicPr>
        <p:blipFill>
          <a:blip r:embed="rId9"/>
          <a:stretch>
            <a:fillRect/>
          </a:stretch>
        </p:blipFill>
        <p:spPr>
          <a:xfrm>
            <a:off x="8942832" y="4256532"/>
            <a:ext cx="219456" cy="219456"/>
          </a:xfrm>
          <a:prstGeom prst="rect">
            <a:avLst/>
          </a:prstGeom>
        </p:spPr>
      </p:pic>
      <p:sp>
        <p:nvSpPr>
          <p:cNvPr id="39" name="tb"/>
          <p:cNvSpPr txBox="1"/>
          <p:nvPr/>
        </p:nvSpPr>
        <p:spPr>
          <a:xfrm>
            <a:off x="9418320" y="3931920"/>
            <a:ext cx="1691640" cy="868680"/>
          </a:xfrm>
          <a:prstGeom prst="rect">
            <a:avLst/>
          </a:prstGeom>
          <a:noFill/>
        </p:spPr>
        <p:txBody>
          <a:bodyPr wrap="square" lIns="0" rIns="0" tIns="0" bIns="0" anchor="ctr">
            <a:spAutoFit/>
          </a:bodyPr>
          <a:lstStyle/>
          <a:p>
            <a:pPr algn="l">
              <a:lnSpc>
                <a:spcPct val="100000"/>
              </a:lnSpc>
            </a:pPr>
            <a:r>
              <a:rPr sz="1400" b="1">
                <a:solidFill>
                  <a:srgbClr val="1F2A37"/>
                </a:solidFill>
                <a:latin typeface="Calibri"/>
              </a:rPr>
              <a:t>EF Core 8</a:t>
            </a:r>
          </a:p>
          <a:p>
            <a:pPr algn="l">
              <a:lnSpc>
                <a:spcPct val="100000"/>
              </a:lnSpc>
            </a:pPr>
            <a:r>
              <a:rPr sz="1200" b="0">
                <a:solidFill>
                  <a:srgbClr val="5B6775"/>
                </a:solidFill>
                <a:latin typeface="Calibri"/>
              </a:rPr>
              <a:t>ORM truy xuất dữ liệu</a:t>
            </a:r>
          </a:p>
        </p:txBody>
      </p:sp>
      <p:cxnSp>
        <p:nvCxnSpPr>
          <p:cNvPr id="40" name="Connector 39"/>
          <p:cNvCxnSpPr/>
          <p:nvPr/>
        </p:nvCxnSpPr>
        <p:spPr>
          <a:xfrm>
            <a:off x="3520440" y="3108960"/>
            <a:ext cx="1143000" cy="0"/>
          </a:xfrm>
          <a:prstGeom prst="line">
            <a:avLst/>
          </a:prstGeom>
          <a:ln w="38100">
            <a:solidFill>
              <a:srgbClr val="FEC01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520440" y="4114800"/>
            <a:ext cx="1143000" cy="274320"/>
          </a:xfrm>
          <a:prstGeom prst="line">
            <a:avLst/>
          </a:prstGeom>
          <a:ln w="38100">
            <a:solidFill>
              <a:srgbClr val="FEC01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18120" y="3108960"/>
            <a:ext cx="822960" cy="0"/>
          </a:xfrm>
          <a:prstGeom prst="line">
            <a:avLst/>
          </a:prstGeom>
          <a:ln w="38100">
            <a:solidFill>
              <a:srgbClr val="FEC01D"/>
            </a:solidFill>
          </a:ln>
        </p:spPr>
        <p:style>
          <a:lnRef idx="2">
            <a:schemeClr val="accent1"/>
          </a:lnRef>
          <a:fillRef idx="0">
            <a:schemeClr val="accent1"/>
          </a:fillRef>
          <a:effectRef idx="1">
            <a:schemeClr val="accent1"/>
          </a:effectRef>
          <a:fontRef idx="minor">
            <a:schemeClr val="tx1"/>
          </a:fontRef>
        </p:style>
      </p:cxnSp>
      <p:sp>
        <p:nvSpPr>
          <p:cNvPr id="43" name="tb"/>
          <p:cNvSpPr txBox="1"/>
          <p:nvPr/>
        </p:nvSpPr>
        <p:spPr>
          <a:xfrm>
            <a:off x="8686800" y="5120640"/>
            <a:ext cx="2514600" cy="457200"/>
          </a:xfrm>
          <a:prstGeom prst="rect">
            <a:avLst/>
          </a:prstGeom>
          <a:noFill/>
        </p:spPr>
        <p:txBody>
          <a:bodyPr wrap="square" lIns="0" rIns="0" tIns="0" bIns="0" anchor="t">
            <a:spAutoFit/>
          </a:bodyPr>
          <a:lstStyle/>
          <a:p>
            <a:pPr algn="l">
              <a:lnSpc>
                <a:spcPct val="100000"/>
              </a:lnSpc>
            </a:pPr>
            <a:r>
              <a:rPr sz="1300" b="1">
                <a:solidFill>
                  <a:srgbClr val="5B6775"/>
                </a:solidFill>
                <a:latin typeface="Calibri"/>
              </a:rPr>
              <a:t>Dịch vụ ngoài: VNPay, Goong Maps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Công nghệ sử dụng</a:t>
            </a:r>
          </a:p>
        </p:txBody>
      </p:sp>
      <p:sp>
        <p:nvSpPr>
          <p:cNvPr id="3" name="Rounded Rectangle 2"/>
          <p:cNvSpPr/>
          <p:nvPr/>
        </p:nvSpPr>
        <p:spPr>
          <a:xfrm>
            <a:off x="822960" y="1920240"/>
            <a:ext cx="2468880" cy="1920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 y="214884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gs_w.png"/>
          <p:cNvPicPr>
            <a:picLocks noChangeAspect="1"/>
          </p:cNvPicPr>
          <p:nvPr/>
        </p:nvPicPr>
        <p:blipFill>
          <a:blip r:embed="rId3"/>
          <a:stretch>
            <a:fillRect/>
          </a:stretch>
        </p:blipFill>
        <p:spPr>
          <a:xfrm>
            <a:off x="1216151" y="2313432"/>
            <a:ext cx="310896" cy="310896"/>
          </a:xfrm>
          <a:prstGeom prst="rect">
            <a:avLst/>
          </a:prstGeom>
        </p:spPr>
      </p:pic>
      <p:sp>
        <p:nvSpPr>
          <p:cNvPr id="6" name="tb"/>
          <p:cNvSpPr txBox="1"/>
          <p:nvPr/>
        </p:nvSpPr>
        <p:spPr>
          <a:xfrm>
            <a:off x="1051560" y="2880360"/>
            <a:ext cx="2103120" cy="365760"/>
          </a:xfrm>
          <a:prstGeom prst="rect">
            <a:avLst/>
          </a:prstGeom>
          <a:noFill/>
        </p:spPr>
        <p:txBody>
          <a:bodyPr wrap="square" lIns="0" rIns="0" tIns="0" bIns="0" anchor="t">
            <a:spAutoFit/>
          </a:bodyPr>
          <a:lstStyle/>
          <a:p>
            <a:pPr algn="l">
              <a:lnSpc>
                <a:spcPct val="100000"/>
              </a:lnSpc>
            </a:pPr>
            <a:r>
              <a:rPr sz="1500" b="1">
                <a:solidFill>
                  <a:srgbClr val="5B6775"/>
                </a:solidFill>
                <a:latin typeface="Calibri"/>
              </a:rPr>
              <a:t>Ngôn ngữ</a:t>
            </a:r>
          </a:p>
        </p:txBody>
      </p:sp>
      <p:sp>
        <p:nvSpPr>
          <p:cNvPr id="7" name="tb"/>
          <p:cNvSpPr txBox="1"/>
          <p:nvPr/>
        </p:nvSpPr>
        <p:spPr>
          <a:xfrm>
            <a:off x="1051560" y="3200400"/>
            <a:ext cx="2103120" cy="594360"/>
          </a:xfrm>
          <a:prstGeom prst="rect">
            <a:avLst/>
          </a:prstGeom>
          <a:noFill/>
        </p:spPr>
        <p:txBody>
          <a:bodyPr wrap="square" lIns="0" rIns="0" tIns="0" bIns="0" anchor="t">
            <a:spAutoFit/>
          </a:bodyPr>
          <a:lstStyle/>
          <a:p>
            <a:pPr algn="l">
              <a:lnSpc>
                <a:spcPct val="100000"/>
              </a:lnSpc>
            </a:pPr>
            <a:r>
              <a:rPr sz="1600" b="1">
                <a:solidFill>
                  <a:srgbClr val="1F2A37"/>
                </a:solidFill>
                <a:latin typeface="Calibri"/>
              </a:rPr>
              <a:t>C# trên .NET 8</a:t>
            </a:r>
          </a:p>
        </p:txBody>
      </p:sp>
      <p:sp>
        <p:nvSpPr>
          <p:cNvPr id="8" name="Rounded Rectangle 7"/>
          <p:cNvSpPr/>
          <p:nvPr/>
        </p:nvSpPr>
        <p:spPr>
          <a:xfrm>
            <a:off x="3504895" y="1920240"/>
            <a:ext cx="2468880" cy="1920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495" y="214884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ptop_w.png"/>
          <p:cNvPicPr>
            <a:picLocks noChangeAspect="1"/>
          </p:cNvPicPr>
          <p:nvPr/>
        </p:nvPicPr>
        <p:blipFill>
          <a:blip r:embed="rId4"/>
          <a:stretch>
            <a:fillRect/>
          </a:stretch>
        </p:blipFill>
        <p:spPr>
          <a:xfrm>
            <a:off x="3898087" y="2313432"/>
            <a:ext cx="310896" cy="310896"/>
          </a:xfrm>
          <a:prstGeom prst="rect">
            <a:avLst/>
          </a:prstGeom>
        </p:spPr>
      </p:pic>
      <p:sp>
        <p:nvSpPr>
          <p:cNvPr id="11" name="tb"/>
          <p:cNvSpPr txBox="1"/>
          <p:nvPr/>
        </p:nvSpPr>
        <p:spPr>
          <a:xfrm>
            <a:off x="3733495" y="2880360"/>
            <a:ext cx="2103120" cy="365760"/>
          </a:xfrm>
          <a:prstGeom prst="rect">
            <a:avLst/>
          </a:prstGeom>
          <a:noFill/>
        </p:spPr>
        <p:txBody>
          <a:bodyPr wrap="square" lIns="0" rIns="0" tIns="0" bIns="0" anchor="t">
            <a:spAutoFit/>
          </a:bodyPr>
          <a:lstStyle/>
          <a:p>
            <a:pPr algn="l">
              <a:lnSpc>
                <a:spcPct val="100000"/>
              </a:lnSpc>
            </a:pPr>
            <a:r>
              <a:rPr sz="1500" b="1">
                <a:solidFill>
                  <a:srgbClr val="5B6775"/>
                </a:solidFill>
                <a:latin typeface="Calibri"/>
              </a:rPr>
              <a:t>Website</a:t>
            </a:r>
          </a:p>
        </p:txBody>
      </p:sp>
      <p:sp>
        <p:nvSpPr>
          <p:cNvPr id="12" name="tb"/>
          <p:cNvSpPr txBox="1"/>
          <p:nvPr/>
        </p:nvSpPr>
        <p:spPr>
          <a:xfrm>
            <a:off x="3733495" y="3200400"/>
            <a:ext cx="2103120" cy="594360"/>
          </a:xfrm>
          <a:prstGeom prst="rect">
            <a:avLst/>
          </a:prstGeom>
          <a:noFill/>
        </p:spPr>
        <p:txBody>
          <a:bodyPr wrap="square" lIns="0" rIns="0" tIns="0" bIns="0" anchor="t">
            <a:spAutoFit/>
          </a:bodyPr>
          <a:lstStyle/>
          <a:p>
            <a:pPr algn="l">
              <a:lnSpc>
                <a:spcPct val="100000"/>
              </a:lnSpc>
            </a:pPr>
            <a:r>
              <a:rPr sz="1600" b="1">
                <a:solidFill>
                  <a:srgbClr val="1F2A37"/>
                </a:solidFill>
                <a:latin typeface="Calibri"/>
              </a:rPr>
              <a:t>ASP.NET Core MVC, Razor View</a:t>
            </a:r>
          </a:p>
        </p:txBody>
      </p:sp>
      <p:sp>
        <p:nvSpPr>
          <p:cNvPr id="13" name="Rounded Rectangle 12"/>
          <p:cNvSpPr/>
          <p:nvPr/>
        </p:nvSpPr>
        <p:spPr>
          <a:xfrm>
            <a:off x="6186830" y="1920240"/>
            <a:ext cx="2468880" cy="1920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15430" y="214884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ock_w.png"/>
          <p:cNvPicPr>
            <a:picLocks noChangeAspect="1"/>
          </p:cNvPicPr>
          <p:nvPr/>
        </p:nvPicPr>
        <p:blipFill>
          <a:blip r:embed="rId5"/>
          <a:stretch>
            <a:fillRect/>
          </a:stretch>
        </p:blipFill>
        <p:spPr>
          <a:xfrm>
            <a:off x="6580022" y="2313432"/>
            <a:ext cx="310896" cy="310896"/>
          </a:xfrm>
          <a:prstGeom prst="rect">
            <a:avLst/>
          </a:prstGeom>
        </p:spPr>
      </p:pic>
      <p:sp>
        <p:nvSpPr>
          <p:cNvPr id="16" name="tb"/>
          <p:cNvSpPr txBox="1"/>
          <p:nvPr/>
        </p:nvSpPr>
        <p:spPr>
          <a:xfrm>
            <a:off x="6415430" y="2880360"/>
            <a:ext cx="2103120" cy="365760"/>
          </a:xfrm>
          <a:prstGeom prst="rect">
            <a:avLst/>
          </a:prstGeom>
          <a:noFill/>
        </p:spPr>
        <p:txBody>
          <a:bodyPr wrap="square" lIns="0" rIns="0" tIns="0" bIns="0" anchor="t">
            <a:spAutoFit/>
          </a:bodyPr>
          <a:lstStyle/>
          <a:p>
            <a:pPr algn="l">
              <a:lnSpc>
                <a:spcPct val="100000"/>
              </a:lnSpc>
            </a:pPr>
            <a:r>
              <a:rPr sz="1500" b="1">
                <a:solidFill>
                  <a:srgbClr val="5B6775"/>
                </a:solidFill>
                <a:latin typeface="Calibri"/>
              </a:rPr>
              <a:t>Web API</a:t>
            </a:r>
          </a:p>
        </p:txBody>
      </p:sp>
      <p:sp>
        <p:nvSpPr>
          <p:cNvPr id="17" name="tb"/>
          <p:cNvSpPr txBox="1"/>
          <p:nvPr/>
        </p:nvSpPr>
        <p:spPr>
          <a:xfrm>
            <a:off x="6415430" y="3200400"/>
            <a:ext cx="2103120" cy="594360"/>
          </a:xfrm>
          <a:prstGeom prst="rect">
            <a:avLst/>
          </a:prstGeom>
          <a:noFill/>
        </p:spPr>
        <p:txBody>
          <a:bodyPr wrap="square" lIns="0" rIns="0" tIns="0" bIns="0" anchor="t">
            <a:spAutoFit/>
          </a:bodyPr>
          <a:lstStyle/>
          <a:p>
            <a:pPr algn="l">
              <a:lnSpc>
                <a:spcPct val="100000"/>
              </a:lnSpc>
            </a:pPr>
            <a:r>
              <a:rPr sz="1600" b="1">
                <a:solidFill>
                  <a:srgbClr val="1F2A37"/>
                </a:solidFill>
                <a:latin typeface="Calibri"/>
              </a:rPr>
              <a:t>JWT Bearer, Swagger</a:t>
            </a:r>
          </a:p>
        </p:txBody>
      </p:sp>
      <p:sp>
        <p:nvSpPr>
          <p:cNvPr id="18" name="Rounded Rectangle 17"/>
          <p:cNvSpPr/>
          <p:nvPr/>
        </p:nvSpPr>
        <p:spPr>
          <a:xfrm>
            <a:off x="8868765" y="1920240"/>
            <a:ext cx="2468880" cy="1920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097365" y="214884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obile_w.png"/>
          <p:cNvPicPr>
            <a:picLocks noChangeAspect="1"/>
          </p:cNvPicPr>
          <p:nvPr/>
        </p:nvPicPr>
        <p:blipFill>
          <a:blip r:embed="rId6"/>
          <a:stretch>
            <a:fillRect/>
          </a:stretch>
        </p:blipFill>
        <p:spPr>
          <a:xfrm>
            <a:off x="9261957" y="2313432"/>
            <a:ext cx="310896" cy="310896"/>
          </a:xfrm>
          <a:prstGeom prst="rect">
            <a:avLst/>
          </a:prstGeom>
        </p:spPr>
      </p:pic>
      <p:sp>
        <p:nvSpPr>
          <p:cNvPr id="21" name="tb"/>
          <p:cNvSpPr txBox="1"/>
          <p:nvPr/>
        </p:nvSpPr>
        <p:spPr>
          <a:xfrm>
            <a:off x="9097365" y="2880360"/>
            <a:ext cx="2103120" cy="365760"/>
          </a:xfrm>
          <a:prstGeom prst="rect">
            <a:avLst/>
          </a:prstGeom>
          <a:noFill/>
        </p:spPr>
        <p:txBody>
          <a:bodyPr wrap="square" lIns="0" rIns="0" tIns="0" bIns="0" anchor="t">
            <a:spAutoFit/>
          </a:bodyPr>
          <a:lstStyle/>
          <a:p>
            <a:pPr algn="l">
              <a:lnSpc>
                <a:spcPct val="100000"/>
              </a:lnSpc>
            </a:pPr>
            <a:r>
              <a:rPr sz="1500" b="1">
                <a:solidFill>
                  <a:srgbClr val="5B6775"/>
                </a:solidFill>
                <a:latin typeface="Calibri"/>
              </a:rPr>
              <a:t>Di động</a:t>
            </a:r>
          </a:p>
        </p:txBody>
      </p:sp>
      <p:sp>
        <p:nvSpPr>
          <p:cNvPr id="22" name="tb"/>
          <p:cNvSpPr txBox="1"/>
          <p:nvPr/>
        </p:nvSpPr>
        <p:spPr>
          <a:xfrm>
            <a:off x="9097365" y="3200400"/>
            <a:ext cx="2103120" cy="594360"/>
          </a:xfrm>
          <a:prstGeom prst="rect">
            <a:avLst/>
          </a:prstGeom>
          <a:noFill/>
        </p:spPr>
        <p:txBody>
          <a:bodyPr wrap="square" lIns="0" rIns="0" tIns="0" bIns="0" anchor="t">
            <a:spAutoFit/>
          </a:bodyPr>
          <a:lstStyle/>
          <a:p>
            <a:pPr algn="l">
              <a:lnSpc>
                <a:spcPct val="100000"/>
              </a:lnSpc>
            </a:pPr>
            <a:r>
              <a:rPr sz="1600" b="1">
                <a:solidFill>
                  <a:srgbClr val="1F2A37"/>
                </a:solidFill>
                <a:latin typeface="Calibri"/>
              </a:rPr>
              <a:t>.NET MAUI</a:t>
            </a:r>
          </a:p>
        </p:txBody>
      </p:sp>
      <p:sp>
        <p:nvSpPr>
          <p:cNvPr id="23" name="Rounded Rectangle 22"/>
          <p:cNvSpPr/>
          <p:nvPr/>
        </p:nvSpPr>
        <p:spPr>
          <a:xfrm>
            <a:off x="822960" y="4069080"/>
            <a:ext cx="2468880" cy="1920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29768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db_w.png"/>
          <p:cNvPicPr>
            <a:picLocks noChangeAspect="1"/>
          </p:cNvPicPr>
          <p:nvPr/>
        </p:nvPicPr>
        <p:blipFill>
          <a:blip r:embed="rId7"/>
          <a:stretch>
            <a:fillRect/>
          </a:stretch>
        </p:blipFill>
        <p:spPr>
          <a:xfrm>
            <a:off x="1216151" y="4462272"/>
            <a:ext cx="310896" cy="310896"/>
          </a:xfrm>
          <a:prstGeom prst="rect">
            <a:avLst/>
          </a:prstGeom>
        </p:spPr>
      </p:pic>
      <p:sp>
        <p:nvSpPr>
          <p:cNvPr id="26" name="tb"/>
          <p:cNvSpPr txBox="1"/>
          <p:nvPr/>
        </p:nvSpPr>
        <p:spPr>
          <a:xfrm>
            <a:off x="1051560" y="5029200"/>
            <a:ext cx="2103120" cy="365760"/>
          </a:xfrm>
          <a:prstGeom prst="rect">
            <a:avLst/>
          </a:prstGeom>
          <a:noFill/>
        </p:spPr>
        <p:txBody>
          <a:bodyPr wrap="square" lIns="0" rIns="0" tIns="0" bIns="0" anchor="t">
            <a:spAutoFit/>
          </a:bodyPr>
          <a:lstStyle/>
          <a:p>
            <a:pPr algn="l">
              <a:lnSpc>
                <a:spcPct val="100000"/>
              </a:lnSpc>
            </a:pPr>
            <a:r>
              <a:rPr sz="1500" b="1">
                <a:solidFill>
                  <a:srgbClr val="5B6775"/>
                </a:solidFill>
                <a:latin typeface="Calibri"/>
              </a:rPr>
              <a:t>Cơ sở dữ liệu</a:t>
            </a:r>
          </a:p>
        </p:txBody>
      </p:sp>
      <p:sp>
        <p:nvSpPr>
          <p:cNvPr id="27" name="tb"/>
          <p:cNvSpPr txBox="1"/>
          <p:nvPr/>
        </p:nvSpPr>
        <p:spPr>
          <a:xfrm>
            <a:off x="1051560" y="5349240"/>
            <a:ext cx="2103120" cy="594360"/>
          </a:xfrm>
          <a:prstGeom prst="rect">
            <a:avLst/>
          </a:prstGeom>
          <a:noFill/>
        </p:spPr>
        <p:txBody>
          <a:bodyPr wrap="square" lIns="0" rIns="0" tIns="0" bIns="0" anchor="t">
            <a:spAutoFit/>
          </a:bodyPr>
          <a:lstStyle/>
          <a:p>
            <a:pPr algn="l">
              <a:lnSpc>
                <a:spcPct val="100000"/>
              </a:lnSpc>
            </a:pPr>
            <a:r>
              <a:rPr sz="1600" b="1">
                <a:solidFill>
                  <a:srgbClr val="1F2A37"/>
                </a:solidFill>
                <a:latin typeface="Calibri"/>
              </a:rPr>
              <a:t>SQL Server, EF Core 8</a:t>
            </a:r>
          </a:p>
        </p:txBody>
      </p:sp>
      <p:sp>
        <p:nvSpPr>
          <p:cNvPr id="28" name="Rounded Rectangle 27"/>
          <p:cNvSpPr/>
          <p:nvPr/>
        </p:nvSpPr>
        <p:spPr>
          <a:xfrm>
            <a:off x="3504895" y="4069080"/>
            <a:ext cx="2468880" cy="1920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33495" y="429768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hield_w.png"/>
          <p:cNvPicPr>
            <a:picLocks noChangeAspect="1"/>
          </p:cNvPicPr>
          <p:nvPr/>
        </p:nvPicPr>
        <p:blipFill>
          <a:blip r:embed="rId8"/>
          <a:stretch>
            <a:fillRect/>
          </a:stretch>
        </p:blipFill>
        <p:spPr>
          <a:xfrm>
            <a:off x="3898087" y="4462272"/>
            <a:ext cx="310896" cy="310896"/>
          </a:xfrm>
          <a:prstGeom prst="rect">
            <a:avLst/>
          </a:prstGeom>
        </p:spPr>
      </p:pic>
      <p:sp>
        <p:nvSpPr>
          <p:cNvPr id="31" name="tb"/>
          <p:cNvSpPr txBox="1"/>
          <p:nvPr/>
        </p:nvSpPr>
        <p:spPr>
          <a:xfrm>
            <a:off x="3733495" y="5029200"/>
            <a:ext cx="2103120" cy="365760"/>
          </a:xfrm>
          <a:prstGeom prst="rect">
            <a:avLst/>
          </a:prstGeom>
          <a:noFill/>
        </p:spPr>
        <p:txBody>
          <a:bodyPr wrap="square" lIns="0" rIns="0" tIns="0" bIns="0" anchor="t">
            <a:spAutoFit/>
          </a:bodyPr>
          <a:lstStyle/>
          <a:p>
            <a:pPr algn="l">
              <a:lnSpc>
                <a:spcPct val="100000"/>
              </a:lnSpc>
            </a:pPr>
            <a:r>
              <a:rPr sz="1500" b="1">
                <a:solidFill>
                  <a:srgbClr val="5B6775"/>
                </a:solidFill>
                <a:latin typeface="Calibri"/>
              </a:rPr>
              <a:t>Bảo mật</a:t>
            </a:r>
          </a:p>
        </p:txBody>
      </p:sp>
      <p:sp>
        <p:nvSpPr>
          <p:cNvPr id="32" name="tb"/>
          <p:cNvSpPr txBox="1"/>
          <p:nvPr/>
        </p:nvSpPr>
        <p:spPr>
          <a:xfrm>
            <a:off x="3733495" y="5349240"/>
            <a:ext cx="2103120" cy="594360"/>
          </a:xfrm>
          <a:prstGeom prst="rect">
            <a:avLst/>
          </a:prstGeom>
          <a:noFill/>
        </p:spPr>
        <p:txBody>
          <a:bodyPr wrap="square" lIns="0" rIns="0" tIns="0" bIns="0" anchor="t">
            <a:spAutoFit/>
          </a:bodyPr>
          <a:lstStyle/>
          <a:p>
            <a:pPr algn="l">
              <a:lnSpc>
                <a:spcPct val="100000"/>
              </a:lnSpc>
            </a:pPr>
            <a:r>
              <a:rPr sz="1600" b="1">
                <a:solidFill>
                  <a:srgbClr val="1F2A37"/>
                </a:solidFill>
                <a:latin typeface="Calibri"/>
              </a:rPr>
              <a:t>BCrypt, phân quyền vai trò</a:t>
            </a:r>
          </a:p>
        </p:txBody>
      </p:sp>
      <p:sp>
        <p:nvSpPr>
          <p:cNvPr id="33" name="Rounded Rectangle 32"/>
          <p:cNvSpPr/>
          <p:nvPr/>
        </p:nvSpPr>
        <p:spPr>
          <a:xfrm>
            <a:off x="6186830" y="4069080"/>
            <a:ext cx="2468880" cy="1920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15430" y="429768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card_w.png"/>
          <p:cNvPicPr>
            <a:picLocks noChangeAspect="1"/>
          </p:cNvPicPr>
          <p:nvPr/>
        </p:nvPicPr>
        <p:blipFill>
          <a:blip r:embed="rId9"/>
          <a:stretch>
            <a:fillRect/>
          </a:stretch>
        </p:blipFill>
        <p:spPr>
          <a:xfrm>
            <a:off x="6580022" y="4462272"/>
            <a:ext cx="310896" cy="310896"/>
          </a:xfrm>
          <a:prstGeom prst="rect">
            <a:avLst/>
          </a:prstGeom>
        </p:spPr>
      </p:pic>
      <p:sp>
        <p:nvSpPr>
          <p:cNvPr id="36" name="tb"/>
          <p:cNvSpPr txBox="1"/>
          <p:nvPr/>
        </p:nvSpPr>
        <p:spPr>
          <a:xfrm>
            <a:off x="6415430" y="5029200"/>
            <a:ext cx="2103120" cy="365760"/>
          </a:xfrm>
          <a:prstGeom prst="rect">
            <a:avLst/>
          </a:prstGeom>
          <a:noFill/>
        </p:spPr>
        <p:txBody>
          <a:bodyPr wrap="square" lIns="0" rIns="0" tIns="0" bIns="0" anchor="t">
            <a:spAutoFit/>
          </a:bodyPr>
          <a:lstStyle/>
          <a:p>
            <a:pPr algn="l">
              <a:lnSpc>
                <a:spcPct val="100000"/>
              </a:lnSpc>
            </a:pPr>
            <a:r>
              <a:rPr sz="1500" b="1">
                <a:solidFill>
                  <a:srgbClr val="5B6775"/>
                </a:solidFill>
                <a:latin typeface="Calibri"/>
              </a:rPr>
              <a:t>Thanh toán</a:t>
            </a:r>
          </a:p>
        </p:txBody>
      </p:sp>
      <p:sp>
        <p:nvSpPr>
          <p:cNvPr id="37" name="tb"/>
          <p:cNvSpPr txBox="1"/>
          <p:nvPr/>
        </p:nvSpPr>
        <p:spPr>
          <a:xfrm>
            <a:off x="6415430" y="5349240"/>
            <a:ext cx="2103120" cy="594360"/>
          </a:xfrm>
          <a:prstGeom prst="rect">
            <a:avLst/>
          </a:prstGeom>
          <a:noFill/>
        </p:spPr>
        <p:txBody>
          <a:bodyPr wrap="square" lIns="0" rIns="0" tIns="0" bIns="0" anchor="t">
            <a:spAutoFit/>
          </a:bodyPr>
          <a:lstStyle/>
          <a:p>
            <a:pPr algn="l">
              <a:lnSpc>
                <a:spcPct val="100000"/>
              </a:lnSpc>
            </a:pPr>
            <a:r>
              <a:rPr sz="1600" b="1">
                <a:solidFill>
                  <a:srgbClr val="1F2A37"/>
                </a:solidFill>
                <a:latin typeface="Calibri"/>
              </a:rPr>
              <a:t>VNPay (sandbox)</a:t>
            </a:r>
          </a:p>
        </p:txBody>
      </p:sp>
      <p:sp>
        <p:nvSpPr>
          <p:cNvPr id="38" name="Rounded Rectangle 37"/>
          <p:cNvSpPr/>
          <p:nvPr/>
        </p:nvSpPr>
        <p:spPr>
          <a:xfrm>
            <a:off x="8868765" y="4069080"/>
            <a:ext cx="2468880" cy="192024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097365" y="429768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pin_w.png"/>
          <p:cNvPicPr>
            <a:picLocks noChangeAspect="1"/>
          </p:cNvPicPr>
          <p:nvPr/>
        </p:nvPicPr>
        <p:blipFill>
          <a:blip r:embed="rId10"/>
          <a:stretch>
            <a:fillRect/>
          </a:stretch>
        </p:blipFill>
        <p:spPr>
          <a:xfrm>
            <a:off x="9261957" y="4462272"/>
            <a:ext cx="310896" cy="310896"/>
          </a:xfrm>
          <a:prstGeom prst="rect">
            <a:avLst/>
          </a:prstGeom>
        </p:spPr>
      </p:pic>
      <p:sp>
        <p:nvSpPr>
          <p:cNvPr id="41" name="tb"/>
          <p:cNvSpPr txBox="1"/>
          <p:nvPr/>
        </p:nvSpPr>
        <p:spPr>
          <a:xfrm>
            <a:off x="9097365" y="5029200"/>
            <a:ext cx="2103120" cy="365760"/>
          </a:xfrm>
          <a:prstGeom prst="rect">
            <a:avLst/>
          </a:prstGeom>
          <a:noFill/>
        </p:spPr>
        <p:txBody>
          <a:bodyPr wrap="square" lIns="0" rIns="0" tIns="0" bIns="0" anchor="t">
            <a:spAutoFit/>
          </a:bodyPr>
          <a:lstStyle/>
          <a:p>
            <a:pPr algn="l">
              <a:lnSpc>
                <a:spcPct val="100000"/>
              </a:lnSpc>
            </a:pPr>
            <a:r>
              <a:rPr sz="1500" b="1">
                <a:solidFill>
                  <a:srgbClr val="5B6775"/>
                </a:solidFill>
                <a:latin typeface="Calibri"/>
              </a:rPr>
              <a:t>Bản đồ</a:t>
            </a:r>
          </a:p>
        </p:txBody>
      </p:sp>
      <p:sp>
        <p:nvSpPr>
          <p:cNvPr id="42" name="tb"/>
          <p:cNvSpPr txBox="1"/>
          <p:nvPr/>
        </p:nvSpPr>
        <p:spPr>
          <a:xfrm>
            <a:off x="9097365" y="5349240"/>
            <a:ext cx="2103120" cy="594360"/>
          </a:xfrm>
          <a:prstGeom prst="rect">
            <a:avLst/>
          </a:prstGeom>
          <a:noFill/>
        </p:spPr>
        <p:txBody>
          <a:bodyPr wrap="square" lIns="0" rIns="0" tIns="0" bIns="0" anchor="t">
            <a:spAutoFit/>
          </a:bodyPr>
          <a:lstStyle/>
          <a:p>
            <a:pPr algn="l">
              <a:lnSpc>
                <a:spcPct val="100000"/>
              </a:lnSpc>
            </a:pPr>
            <a:r>
              <a:rPr sz="1600" b="1">
                <a:solidFill>
                  <a:srgbClr val="1F2A37"/>
                </a:solidFill>
                <a:latin typeface="Calibri"/>
              </a:rPr>
              <a:t>Goong Maps: tọa độ, khoảng cách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Thiết kế cơ sở dữ liệu: 16 bảng</a:t>
            </a:r>
          </a:p>
        </p:txBody>
      </p:sp>
      <p:sp>
        <p:nvSpPr>
          <p:cNvPr id="3" name="Rounded Rectangle 2"/>
          <p:cNvSpPr/>
          <p:nvPr/>
        </p:nvSpPr>
        <p:spPr>
          <a:xfrm>
            <a:off x="822960" y="182880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b"/>
          <p:cNvSpPr txBox="1"/>
          <p:nvPr/>
        </p:nvSpPr>
        <p:spPr>
          <a:xfrm>
            <a:off x="1051560" y="1965960"/>
            <a:ext cx="4754880" cy="365760"/>
          </a:xfrm>
          <a:prstGeom prst="rect">
            <a:avLst/>
          </a:prstGeom>
          <a:noFill/>
        </p:spPr>
        <p:txBody>
          <a:bodyPr wrap="square" lIns="0" rIns="0" tIns="0" bIns="0" anchor="t">
            <a:spAutoFit/>
          </a:bodyPr>
          <a:lstStyle/>
          <a:p>
            <a:pPr algn="l">
              <a:lnSpc>
                <a:spcPct val="100000"/>
              </a:lnSpc>
            </a:pPr>
            <a:r>
              <a:rPr sz="1700" b="1">
                <a:solidFill>
                  <a:srgbClr val="2072B7"/>
                </a:solidFill>
                <a:latin typeface="Calibri"/>
              </a:rPr>
              <a:t>Tài khoản và người dùng</a:t>
            </a:r>
          </a:p>
        </p:txBody>
      </p:sp>
      <p:sp>
        <p:nvSpPr>
          <p:cNvPr id="5" name="Rounded Rectangle 4"/>
          <p:cNvSpPr/>
          <p:nvPr/>
        </p:nvSpPr>
        <p:spPr>
          <a:xfrm>
            <a:off x="1051560" y="2468880"/>
            <a:ext cx="914400"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b"/>
          <p:cNvSpPr txBox="1"/>
          <p:nvPr/>
        </p:nvSpPr>
        <p:spPr>
          <a:xfrm>
            <a:off x="1051560" y="2468880"/>
            <a:ext cx="91440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TaiKhoan</a:t>
            </a:r>
          </a:p>
        </p:txBody>
      </p:sp>
      <p:sp>
        <p:nvSpPr>
          <p:cNvPr id="7" name="Rounded Rectangle 6"/>
          <p:cNvSpPr/>
          <p:nvPr/>
        </p:nvSpPr>
        <p:spPr>
          <a:xfrm>
            <a:off x="2103120" y="2468880"/>
            <a:ext cx="1010412"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b"/>
          <p:cNvSpPr txBox="1"/>
          <p:nvPr/>
        </p:nvSpPr>
        <p:spPr>
          <a:xfrm>
            <a:off x="2103120" y="2468880"/>
            <a:ext cx="1010412"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KhachHang</a:t>
            </a:r>
          </a:p>
        </p:txBody>
      </p:sp>
      <p:sp>
        <p:nvSpPr>
          <p:cNvPr id="9" name="Rounded Rectangle 8"/>
          <p:cNvSpPr/>
          <p:nvPr/>
        </p:nvSpPr>
        <p:spPr>
          <a:xfrm>
            <a:off x="3250691" y="2468880"/>
            <a:ext cx="914400"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b"/>
          <p:cNvSpPr txBox="1"/>
          <p:nvPr/>
        </p:nvSpPr>
        <p:spPr>
          <a:xfrm>
            <a:off x="3250691" y="2468880"/>
            <a:ext cx="91440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GianHang</a:t>
            </a:r>
          </a:p>
        </p:txBody>
      </p:sp>
      <p:sp>
        <p:nvSpPr>
          <p:cNvPr id="11" name="Rounded Rectangle 10"/>
          <p:cNvSpPr/>
          <p:nvPr/>
        </p:nvSpPr>
        <p:spPr>
          <a:xfrm>
            <a:off x="4302252" y="2468880"/>
            <a:ext cx="626364"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b"/>
          <p:cNvSpPr txBox="1"/>
          <p:nvPr/>
        </p:nvSpPr>
        <p:spPr>
          <a:xfrm>
            <a:off x="4302252" y="2468880"/>
            <a:ext cx="626364"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TaiXe</a:t>
            </a:r>
          </a:p>
        </p:txBody>
      </p:sp>
      <p:sp>
        <p:nvSpPr>
          <p:cNvPr id="13" name="Rounded Rectangle 12"/>
          <p:cNvSpPr/>
          <p:nvPr/>
        </p:nvSpPr>
        <p:spPr>
          <a:xfrm>
            <a:off x="1051560" y="3063240"/>
            <a:ext cx="818388"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b"/>
          <p:cNvSpPr txBox="1"/>
          <p:nvPr/>
        </p:nvSpPr>
        <p:spPr>
          <a:xfrm>
            <a:off x="1051560" y="3063240"/>
            <a:ext cx="818388"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QuanTri</a:t>
            </a:r>
          </a:p>
        </p:txBody>
      </p:sp>
      <p:sp>
        <p:nvSpPr>
          <p:cNvPr id="15" name="Rounded Rectangle 14"/>
          <p:cNvSpPr/>
          <p:nvPr/>
        </p:nvSpPr>
        <p:spPr>
          <a:xfrm>
            <a:off x="6172200" y="182880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b"/>
          <p:cNvSpPr txBox="1"/>
          <p:nvPr/>
        </p:nvSpPr>
        <p:spPr>
          <a:xfrm>
            <a:off x="6400800" y="1965960"/>
            <a:ext cx="4754880" cy="365760"/>
          </a:xfrm>
          <a:prstGeom prst="rect">
            <a:avLst/>
          </a:prstGeom>
          <a:noFill/>
        </p:spPr>
        <p:txBody>
          <a:bodyPr wrap="square" lIns="0" rIns="0" tIns="0" bIns="0" anchor="t">
            <a:spAutoFit/>
          </a:bodyPr>
          <a:lstStyle/>
          <a:p>
            <a:pPr algn="l">
              <a:lnSpc>
                <a:spcPct val="100000"/>
              </a:lnSpc>
            </a:pPr>
            <a:r>
              <a:rPr sz="1700" b="1">
                <a:solidFill>
                  <a:srgbClr val="044F9E"/>
                </a:solidFill>
                <a:latin typeface="Calibri"/>
              </a:rPr>
              <a:t>Thực đơn và khuyến mãi</a:t>
            </a:r>
          </a:p>
        </p:txBody>
      </p:sp>
      <p:sp>
        <p:nvSpPr>
          <p:cNvPr id="17" name="Rounded Rectangle 16"/>
          <p:cNvSpPr/>
          <p:nvPr/>
        </p:nvSpPr>
        <p:spPr>
          <a:xfrm>
            <a:off x="6400800" y="2468880"/>
            <a:ext cx="818388" cy="4572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b"/>
          <p:cNvSpPr txBox="1"/>
          <p:nvPr/>
        </p:nvSpPr>
        <p:spPr>
          <a:xfrm>
            <a:off x="6400800" y="2468880"/>
            <a:ext cx="818388"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DanhMuc</a:t>
            </a:r>
          </a:p>
        </p:txBody>
      </p:sp>
      <p:sp>
        <p:nvSpPr>
          <p:cNvPr id="19" name="Rounded Rectangle 18"/>
          <p:cNvSpPr/>
          <p:nvPr/>
        </p:nvSpPr>
        <p:spPr>
          <a:xfrm>
            <a:off x="7356348" y="2468880"/>
            <a:ext cx="626364" cy="4572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b"/>
          <p:cNvSpPr txBox="1"/>
          <p:nvPr/>
        </p:nvSpPr>
        <p:spPr>
          <a:xfrm>
            <a:off x="7356348" y="2468880"/>
            <a:ext cx="626364"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MonAn</a:t>
            </a:r>
          </a:p>
        </p:txBody>
      </p:sp>
      <p:sp>
        <p:nvSpPr>
          <p:cNvPr id="21" name="Rounded Rectangle 20"/>
          <p:cNvSpPr/>
          <p:nvPr/>
        </p:nvSpPr>
        <p:spPr>
          <a:xfrm>
            <a:off x="8119872" y="2468880"/>
            <a:ext cx="1010412" cy="4572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b"/>
          <p:cNvSpPr txBox="1"/>
          <p:nvPr/>
        </p:nvSpPr>
        <p:spPr>
          <a:xfrm>
            <a:off x="8119872" y="2468880"/>
            <a:ext cx="1010412"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KhuyenMai</a:t>
            </a:r>
          </a:p>
        </p:txBody>
      </p:sp>
      <p:sp>
        <p:nvSpPr>
          <p:cNvPr id="23" name="Rounded Rectangle 22"/>
          <p:cNvSpPr/>
          <p:nvPr/>
        </p:nvSpPr>
        <p:spPr>
          <a:xfrm>
            <a:off x="822960" y="402336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b"/>
          <p:cNvSpPr txBox="1"/>
          <p:nvPr/>
        </p:nvSpPr>
        <p:spPr>
          <a:xfrm>
            <a:off x="1051560" y="4160520"/>
            <a:ext cx="4754880" cy="365760"/>
          </a:xfrm>
          <a:prstGeom prst="rect">
            <a:avLst/>
          </a:prstGeom>
          <a:noFill/>
        </p:spPr>
        <p:txBody>
          <a:bodyPr wrap="square" lIns="0" rIns="0" tIns="0" bIns="0" anchor="t">
            <a:spAutoFit/>
          </a:bodyPr>
          <a:lstStyle/>
          <a:p>
            <a:pPr algn="l">
              <a:lnSpc>
                <a:spcPct val="100000"/>
              </a:lnSpc>
            </a:pPr>
            <a:r>
              <a:rPr sz="1700" b="1">
                <a:solidFill>
                  <a:srgbClr val="2072B7"/>
                </a:solidFill>
                <a:latin typeface="Calibri"/>
              </a:rPr>
              <a:t>Đơn hàng và giao hàng</a:t>
            </a:r>
          </a:p>
        </p:txBody>
      </p:sp>
      <p:sp>
        <p:nvSpPr>
          <p:cNvPr id="25" name="Rounded Rectangle 24"/>
          <p:cNvSpPr/>
          <p:nvPr/>
        </p:nvSpPr>
        <p:spPr>
          <a:xfrm>
            <a:off x="1051560" y="4663440"/>
            <a:ext cx="818388"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b"/>
          <p:cNvSpPr txBox="1"/>
          <p:nvPr/>
        </p:nvSpPr>
        <p:spPr>
          <a:xfrm>
            <a:off x="1051560" y="4663440"/>
            <a:ext cx="818388"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DonHang</a:t>
            </a:r>
          </a:p>
        </p:txBody>
      </p:sp>
      <p:sp>
        <p:nvSpPr>
          <p:cNvPr id="27" name="Rounded Rectangle 26"/>
          <p:cNvSpPr/>
          <p:nvPr/>
        </p:nvSpPr>
        <p:spPr>
          <a:xfrm>
            <a:off x="2007107" y="4663440"/>
            <a:ext cx="1490472"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b"/>
          <p:cNvSpPr txBox="1"/>
          <p:nvPr/>
        </p:nvSpPr>
        <p:spPr>
          <a:xfrm>
            <a:off x="2007107" y="4663440"/>
            <a:ext cx="1490472"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ChiTietDonHang</a:t>
            </a:r>
          </a:p>
        </p:txBody>
      </p:sp>
      <p:sp>
        <p:nvSpPr>
          <p:cNvPr id="29" name="Rounded Rectangle 28"/>
          <p:cNvSpPr/>
          <p:nvPr/>
        </p:nvSpPr>
        <p:spPr>
          <a:xfrm>
            <a:off x="3634739" y="4663440"/>
            <a:ext cx="1010412"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b"/>
          <p:cNvSpPr txBox="1"/>
          <p:nvPr/>
        </p:nvSpPr>
        <p:spPr>
          <a:xfrm>
            <a:off x="3634739" y="4663440"/>
            <a:ext cx="1010412"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ThanhToan</a:t>
            </a:r>
          </a:p>
        </p:txBody>
      </p:sp>
      <p:sp>
        <p:nvSpPr>
          <p:cNvPr id="31" name="Rounded Rectangle 30"/>
          <p:cNvSpPr/>
          <p:nvPr/>
        </p:nvSpPr>
        <p:spPr>
          <a:xfrm>
            <a:off x="4782312" y="4663440"/>
            <a:ext cx="914400" cy="457200"/>
          </a:xfrm>
          <a:prstGeom prst="roundRect">
            <a:avLst>
              <a:gd name="adj" fmla="val 6000"/>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b"/>
          <p:cNvSpPr txBox="1"/>
          <p:nvPr/>
        </p:nvSpPr>
        <p:spPr>
          <a:xfrm>
            <a:off x="4782312" y="4663440"/>
            <a:ext cx="914400"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GiaoHang</a:t>
            </a:r>
          </a:p>
        </p:txBody>
      </p:sp>
      <p:sp>
        <p:nvSpPr>
          <p:cNvPr id="33" name="Rounded Rectangle 32"/>
          <p:cNvSpPr/>
          <p:nvPr/>
        </p:nvSpPr>
        <p:spPr>
          <a:xfrm>
            <a:off x="6172200" y="402336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b"/>
          <p:cNvSpPr txBox="1"/>
          <p:nvPr/>
        </p:nvSpPr>
        <p:spPr>
          <a:xfrm>
            <a:off x="6400800" y="4160520"/>
            <a:ext cx="4754880" cy="365760"/>
          </a:xfrm>
          <a:prstGeom prst="rect">
            <a:avLst/>
          </a:prstGeom>
          <a:noFill/>
        </p:spPr>
        <p:txBody>
          <a:bodyPr wrap="square" lIns="0" rIns="0" tIns="0" bIns="0" anchor="t">
            <a:spAutoFit/>
          </a:bodyPr>
          <a:lstStyle/>
          <a:p>
            <a:pPr algn="l">
              <a:lnSpc>
                <a:spcPct val="100000"/>
              </a:lnSpc>
            </a:pPr>
            <a:r>
              <a:rPr sz="1700" b="1">
                <a:solidFill>
                  <a:srgbClr val="044F9E"/>
                </a:solidFill>
                <a:latin typeface="Calibri"/>
              </a:rPr>
              <a:t>Tương tác của khách hàng</a:t>
            </a:r>
          </a:p>
        </p:txBody>
      </p:sp>
      <p:sp>
        <p:nvSpPr>
          <p:cNvPr id="35" name="Rounded Rectangle 34"/>
          <p:cNvSpPr/>
          <p:nvPr/>
        </p:nvSpPr>
        <p:spPr>
          <a:xfrm>
            <a:off x="6400800" y="4663440"/>
            <a:ext cx="818388" cy="4572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b"/>
          <p:cNvSpPr txBox="1"/>
          <p:nvPr/>
        </p:nvSpPr>
        <p:spPr>
          <a:xfrm>
            <a:off x="6400800" y="4663440"/>
            <a:ext cx="818388"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DanhGia</a:t>
            </a:r>
          </a:p>
        </p:txBody>
      </p:sp>
      <p:sp>
        <p:nvSpPr>
          <p:cNvPr id="37" name="Rounded Rectangle 36"/>
          <p:cNvSpPr/>
          <p:nvPr/>
        </p:nvSpPr>
        <p:spPr>
          <a:xfrm>
            <a:off x="7356348" y="4663440"/>
            <a:ext cx="1106424" cy="4572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b"/>
          <p:cNvSpPr txBox="1"/>
          <p:nvPr/>
        </p:nvSpPr>
        <p:spPr>
          <a:xfrm>
            <a:off x="7356348" y="4663440"/>
            <a:ext cx="1106424"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DanhGiaMon</a:t>
            </a:r>
          </a:p>
        </p:txBody>
      </p:sp>
      <p:sp>
        <p:nvSpPr>
          <p:cNvPr id="39" name="Rounded Rectangle 38"/>
          <p:cNvSpPr/>
          <p:nvPr/>
        </p:nvSpPr>
        <p:spPr>
          <a:xfrm>
            <a:off x="8599932" y="4663440"/>
            <a:ext cx="1586484" cy="4572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b"/>
          <p:cNvSpPr txBox="1"/>
          <p:nvPr/>
        </p:nvSpPr>
        <p:spPr>
          <a:xfrm>
            <a:off x="8599932" y="4663440"/>
            <a:ext cx="1586484"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DiaChiKhachHang</a:t>
            </a:r>
          </a:p>
        </p:txBody>
      </p:sp>
      <p:sp>
        <p:nvSpPr>
          <p:cNvPr id="41" name="Rounded Rectangle 40"/>
          <p:cNvSpPr/>
          <p:nvPr/>
        </p:nvSpPr>
        <p:spPr>
          <a:xfrm>
            <a:off x="10323576" y="4663440"/>
            <a:ext cx="818388" cy="4572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b"/>
          <p:cNvSpPr txBox="1"/>
          <p:nvPr/>
        </p:nvSpPr>
        <p:spPr>
          <a:xfrm>
            <a:off x="10323576" y="4663440"/>
            <a:ext cx="818388" cy="457200"/>
          </a:xfrm>
          <a:prstGeom prst="rect">
            <a:avLst/>
          </a:prstGeom>
          <a:noFill/>
        </p:spPr>
        <p:txBody>
          <a:bodyPr wrap="square" lIns="0" rIns="0" tIns="0" bIns="0" anchor="ctr">
            <a:spAutoFit/>
          </a:bodyPr>
          <a:lstStyle/>
          <a:p>
            <a:pPr algn="ctr">
              <a:lnSpc>
                <a:spcPct val="100000"/>
              </a:lnSpc>
            </a:pPr>
            <a:r>
              <a:rPr sz="1300" b="1">
                <a:solidFill>
                  <a:srgbClr val="FFFFFF"/>
                </a:solidFill>
                <a:latin typeface="Calibri"/>
              </a:rPr>
              <a:t>PhanHoi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Vòng đời của một đơn hàng</a:t>
            </a:r>
          </a:p>
        </p:txBody>
      </p:sp>
      <p:sp>
        <p:nvSpPr>
          <p:cNvPr id="3" name="Pentagon 2"/>
          <p:cNvSpPr/>
          <p:nvPr/>
        </p:nvSpPr>
        <p:spPr>
          <a:xfrm>
            <a:off x="822960" y="2103120"/>
            <a:ext cx="2788920" cy="1280160"/>
          </a:xfrm>
          <a:prstGeom prst="homePlat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b"/>
          <p:cNvSpPr txBox="1"/>
          <p:nvPr/>
        </p:nvSpPr>
        <p:spPr>
          <a:xfrm>
            <a:off x="1234440" y="2103120"/>
            <a:ext cx="1965960" cy="1280160"/>
          </a:xfrm>
          <a:prstGeom prst="rect">
            <a:avLst/>
          </a:prstGeom>
          <a:noFill/>
        </p:spPr>
        <p:txBody>
          <a:bodyPr wrap="square" lIns="0" rIns="0" tIns="0" bIns="0" anchor="ctr">
            <a:spAutoFit/>
          </a:bodyPr>
          <a:lstStyle/>
          <a:p>
            <a:pPr algn="ctr">
              <a:lnSpc>
                <a:spcPct val="100000"/>
              </a:lnSpc>
            </a:pPr>
            <a:r>
              <a:rPr sz="1700" b="1">
                <a:solidFill>
                  <a:srgbClr val="FFFFFF"/>
                </a:solidFill>
                <a:latin typeface="Calibri"/>
              </a:rPr>
              <a:t>Chờ xác nhận</a:t>
            </a:r>
          </a:p>
        </p:txBody>
      </p:sp>
      <p:sp>
        <p:nvSpPr>
          <p:cNvPr id="5" name="tb"/>
          <p:cNvSpPr txBox="1"/>
          <p:nvPr/>
        </p:nvSpPr>
        <p:spPr>
          <a:xfrm>
            <a:off x="1005840" y="3520440"/>
            <a:ext cx="2514600" cy="365760"/>
          </a:xfrm>
          <a:prstGeom prst="rect">
            <a:avLst/>
          </a:prstGeom>
          <a:noFill/>
        </p:spPr>
        <p:txBody>
          <a:bodyPr wrap="square" lIns="0" rIns="0" tIns="0" bIns="0" anchor="t">
            <a:spAutoFit/>
          </a:bodyPr>
          <a:lstStyle/>
          <a:p>
            <a:pPr algn="ctr">
              <a:lnSpc>
                <a:spcPct val="100000"/>
              </a:lnSpc>
            </a:pPr>
            <a:r>
              <a:rPr sz="1500" b="1">
                <a:solidFill>
                  <a:srgbClr val="5B6775"/>
                </a:solidFill>
                <a:latin typeface="Calibri"/>
              </a:rPr>
              <a:t>Khách đặt hàng</a:t>
            </a:r>
          </a:p>
        </p:txBody>
      </p:sp>
      <p:sp>
        <p:nvSpPr>
          <p:cNvPr id="6" name="Chevron 5"/>
          <p:cNvSpPr/>
          <p:nvPr/>
        </p:nvSpPr>
        <p:spPr>
          <a:xfrm>
            <a:off x="3401568" y="2103120"/>
            <a:ext cx="2788920" cy="1280160"/>
          </a:xfrm>
          <a:prstGeom prst="chevron">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b"/>
          <p:cNvSpPr txBox="1"/>
          <p:nvPr/>
        </p:nvSpPr>
        <p:spPr>
          <a:xfrm>
            <a:off x="3813048" y="2103120"/>
            <a:ext cx="1965960" cy="1280160"/>
          </a:xfrm>
          <a:prstGeom prst="rect">
            <a:avLst/>
          </a:prstGeom>
          <a:noFill/>
        </p:spPr>
        <p:txBody>
          <a:bodyPr wrap="square" lIns="0" rIns="0" tIns="0" bIns="0" anchor="ctr">
            <a:spAutoFit/>
          </a:bodyPr>
          <a:lstStyle/>
          <a:p>
            <a:pPr algn="ctr">
              <a:lnSpc>
                <a:spcPct val="100000"/>
              </a:lnSpc>
            </a:pPr>
            <a:r>
              <a:rPr sz="1700" b="1">
                <a:solidFill>
                  <a:srgbClr val="FFFFFF"/>
                </a:solidFill>
                <a:latin typeface="Calibri"/>
              </a:rPr>
              <a:t>Đã xác nhận</a:t>
            </a:r>
          </a:p>
        </p:txBody>
      </p:sp>
      <p:sp>
        <p:nvSpPr>
          <p:cNvPr id="8" name="tb"/>
          <p:cNvSpPr txBox="1"/>
          <p:nvPr/>
        </p:nvSpPr>
        <p:spPr>
          <a:xfrm>
            <a:off x="3584448" y="3520440"/>
            <a:ext cx="2514600" cy="365760"/>
          </a:xfrm>
          <a:prstGeom prst="rect">
            <a:avLst/>
          </a:prstGeom>
          <a:noFill/>
        </p:spPr>
        <p:txBody>
          <a:bodyPr wrap="square" lIns="0" rIns="0" tIns="0" bIns="0" anchor="t">
            <a:spAutoFit/>
          </a:bodyPr>
          <a:lstStyle/>
          <a:p>
            <a:pPr algn="ctr">
              <a:lnSpc>
                <a:spcPct val="100000"/>
              </a:lnSpc>
            </a:pPr>
            <a:r>
              <a:rPr sz="1500" b="1">
                <a:solidFill>
                  <a:srgbClr val="5B6775"/>
                </a:solidFill>
                <a:latin typeface="Calibri"/>
              </a:rPr>
              <a:t>Gian hàng xác nhận</a:t>
            </a:r>
          </a:p>
        </p:txBody>
      </p:sp>
      <p:sp>
        <p:nvSpPr>
          <p:cNvPr id="9" name="Chevron 8"/>
          <p:cNvSpPr/>
          <p:nvPr/>
        </p:nvSpPr>
        <p:spPr>
          <a:xfrm>
            <a:off x="5980176" y="2103120"/>
            <a:ext cx="2788920" cy="1280160"/>
          </a:xfrm>
          <a:prstGeom prst="chevron">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b"/>
          <p:cNvSpPr txBox="1"/>
          <p:nvPr/>
        </p:nvSpPr>
        <p:spPr>
          <a:xfrm>
            <a:off x="6391656" y="2103120"/>
            <a:ext cx="1965960" cy="1280160"/>
          </a:xfrm>
          <a:prstGeom prst="rect">
            <a:avLst/>
          </a:prstGeom>
          <a:noFill/>
        </p:spPr>
        <p:txBody>
          <a:bodyPr wrap="square" lIns="0" rIns="0" tIns="0" bIns="0" anchor="ctr">
            <a:spAutoFit/>
          </a:bodyPr>
          <a:lstStyle/>
          <a:p>
            <a:pPr algn="ctr">
              <a:lnSpc>
                <a:spcPct val="100000"/>
              </a:lnSpc>
            </a:pPr>
            <a:r>
              <a:rPr sz="1700" b="1">
                <a:solidFill>
                  <a:srgbClr val="FFFFFF"/>
                </a:solidFill>
                <a:latin typeface="Calibri"/>
              </a:rPr>
              <a:t>Đang giao</a:t>
            </a:r>
          </a:p>
        </p:txBody>
      </p:sp>
      <p:sp>
        <p:nvSpPr>
          <p:cNvPr id="11" name="tb"/>
          <p:cNvSpPr txBox="1"/>
          <p:nvPr/>
        </p:nvSpPr>
        <p:spPr>
          <a:xfrm>
            <a:off x="6163056" y="3520440"/>
            <a:ext cx="2514600" cy="365760"/>
          </a:xfrm>
          <a:prstGeom prst="rect">
            <a:avLst/>
          </a:prstGeom>
          <a:noFill/>
        </p:spPr>
        <p:txBody>
          <a:bodyPr wrap="square" lIns="0" rIns="0" tIns="0" bIns="0" anchor="t">
            <a:spAutoFit/>
          </a:bodyPr>
          <a:lstStyle/>
          <a:p>
            <a:pPr algn="ctr">
              <a:lnSpc>
                <a:spcPct val="100000"/>
              </a:lnSpc>
            </a:pPr>
            <a:r>
              <a:rPr sz="1500" b="1">
                <a:solidFill>
                  <a:srgbClr val="5B6775"/>
                </a:solidFill>
                <a:latin typeface="Calibri"/>
              </a:rPr>
              <a:t>Tài xế nhận và giao</a:t>
            </a:r>
          </a:p>
        </p:txBody>
      </p:sp>
      <p:sp>
        <p:nvSpPr>
          <p:cNvPr id="12" name="Chevron 11"/>
          <p:cNvSpPr/>
          <p:nvPr/>
        </p:nvSpPr>
        <p:spPr>
          <a:xfrm>
            <a:off x="8558784" y="2103120"/>
            <a:ext cx="2788920" cy="1280160"/>
          </a:xfrm>
          <a:prstGeom prst="chevron">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b"/>
          <p:cNvSpPr txBox="1"/>
          <p:nvPr/>
        </p:nvSpPr>
        <p:spPr>
          <a:xfrm>
            <a:off x="8970263" y="2103120"/>
            <a:ext cx="1965960" cy="1280160"/>
          </a:xfrm>
          <a:prstGeom prst="rect">
            <a:avLst/>
          </a:prstGeom>
          <a:noFill/>
        </p:spPr>
        <p:txBody>
          <a:bodyPr wrap="square" lIns="0" rIns="0" tIns="0" bIns="0" anchor="ctr">
            <a:spAutoFit/>
          </a:bodyPr>
          <a:lstStyle/>
          <a:p>
            <a:pPr algn="ctr">
              <a:lnSpc>
                <a:spcPct val="100000"/>
              </a:lnSpc>
            </a:pPr>
            <a:r>
              <a:rPr sz="1700" b="1">
                <a:solidFill>
                  <a:srgbClr val="FFFFFF"/>
                </a:solidFill>
                <a:latin typeface="Calibri"/>
              </a:rPr>
              <a:t>Đã giao</a:t>
            </a:r>
          </a:p>
        </p:txBody>
      </p:sp>
      <p:sp>
        <p:nvSpPr>
          <p:cNvPr id="14" name="tb"/>
          <p:cNvSpPr txBox="1"/>
          <p:nvPr/>
        </p:nvSpPr>
        <p:spPr>
          <a:xfrm>
            <a:off x="8741663" y="3520440"/>
            <a:ext cx="2514600" cy="365760"/>
          </a:xfrm>
          <a:prstGeom prst="rect">
            <a:avLst/>
          </a:prstGeom>
          <a:noFill/>
        </p:spPr>
        <p:txBody>
          <a:bodyPr wrap="square" lIns="0" rIns="0" tIns="0" bIns="0" anchor="t">
            <a:spAutoFit/>
          </a:bodyPr>
          <a:lstStyle/>
          <a:p>
            <a:pPr algn="ctr">
              <a:lnSpc>
                <a:spcPct val="100000"/>
              </a:lnSpc>
            </a:pPr>
            <a:r>
              <a:rPr sz="1500" b="1">
                <a:solidFill>
                  <a:srgbClr val="5B6775"/>
                </a:solidFill>
                <a:latin typeface="Calibri"/>
              </a:rPr>
              <a:t>Tài xế hoàn thành</a:t>
            </a:r>
          </a:p>
        </p:txBody>
      </p:sp>
      <p:sp>
        <p:nvSpPr>
          <p:cNvPr id="15" name="Rounded Rectangle 14"/>
          <p:cNvSpPr/>
          <p:nvPr/>
        </p:nvSpPr>
        <p:spPr>
          <a:xfrm>
            <a:off x="822960" y="4297680"/>
            <a:ext cx="5120640" cy="17373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4480560"/>
            <a:ext cx="548640" cy="548640"/>
          </a:xfrm>
          <a:prstGeom prst="ellipse">
            <a:avLst/>
          </a:prstGeom>
          <a:solidFill>
            <a:srgbClr val="E8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_w.png"/>
          <p:cNvPicPr>
            <a:picLocks noChangeAspect="1"/>
          </p:cNvPicPr>
          <p:nvPr/>
        </p:nvPicPr>
        <p:blipFill>
          <a:blip r:embed="rId3"/>
          <a:stretch>
            <a:fillRect/>
          </a:stretch>
        </p:blipFill>
        <p:spPr>
          <a:xfrm>
            <a:off x="1143000" y="4617720"/>
            <a:ext cx="274320" cy="274320"/>
          </a:xfrm>
          <a:prstGeom prst="rect">
            <a:avLst/>
          </a:prstGeom>
        </p:spPr>
      </p:pic>
      <p:sp>
        <p:nvSpPr>
          <p:cNvPr id="18" name="tb"/>
          <p:cNvSpPr txBox="1"/>
          <p:nvPr/>
        </p:nvSpPr>
        <p:spPr>
          <a:xfrm>
            <a:off x="1737360" y="4434840"/>
            <a:ext cx="4069080" cy="365760"/>
          </a:xfrm>
          <a:prstGeom prst="rect">
            <a:avLst/>
          </a:prstGeom>
          <a:noFill/>
        </p:spPr>
        <p:txBody>
          <a:bodyPr wrap="square" lIns="0" rIns="0" tIns="0" bIns="0" anchor="t">
            <a:spAutoFit/>
          </a:bodyPr>
          <a:lstStyle/>
          <a:p>
            <a:pPr algn="l">
              <a:lnSpc>
                <a:spcPct val="100000"/>
              </a:lnSpc>
            </a:pPr>
            <a:r>
              <a:rPr sz="1800" b="1">
                <a:solidFill>
                  <a:srgbClr val="E81F26"/>
                </a:solidFill>
                <a:latin typeface="Calibri"/>
              </a:rPr>
              <a:t>Hủy đơn</a:t>
            </a:r>
          </a:p>
        </p:txBody>
      </p:sp>
      <p:sp>
        <p:nvSpPr>
          <p:cNvPr id="19" name="tb"/>
          <p:cNvSpPr txBox="1"/>
          <p:nvPr/>
        </p:nvSpPr>
        <p:spPr>
          <a:xfrm>
            <a:off x="1737360" y="4846320"/>
            <a:ext cx="4069080" cy="109728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Khách tự hủy khi còn "Chờ xác nhận"; gian hàng có thể hủy ở bước xác nhận.</a:t>
            </a:r>
          </a:p>
        </p:txBody>
      </p:sp>
      <p:sp>
        <p:nvSpPr>
          <p:cNvPr id="20" name="Rounded Rectangle 19"/>
          <p:cNvSpPr/>
          <p:nvPr/>
        </p:nvSpPr>
        <p:spPr>
          <a:xfrm>
            <a:off x="6245352" y="4297680"/>
            <a:ext cx="5120640" cy="17373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4480560"/>
            <a:ext cx="548640" cy="54864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ard_w.png"/>
          <p:cNvPicPr>
            <a:picLocks noChangeAspect="1"/>
          </p:cNvPicPr>
          <p:nvPr/>
        </p:nvPicPr>
        <p:blipFill>
          <a:blip r:embed="rId4"/>
          <a:stretch>
            <a:fillRect/>
          </a:stretch>
        </p:blipFill>
        <p:spPr>
          <a:xfrm>
            <a:off x="6565392" y="4617720"/>
            <a:ext cx="274320" cy="274320"/>
          </a:xfrm>
          <a:prstGeom prst="rect">
            <a:avLst/>
          </a:prstGeom>
        </p:spPr>
      </p:pic>
      <p:sp>
        <p:nvSpPr>
          <p:cNvPr id="23" name="tb"/>
          <p:cNvSpPr txBox="1"/>
          <p:nvPr/>
        </p:nvSpPr>
        <p:spPr>
          <a:xfrm>
            <a:off x="7159752" y="4434840"/>
            <a:ext cx="4069080" cy="365760"/>
          </a:xfrm>
          <a:prstGeom prst="rect">
            <a:avLst/>
          </a:prstGeom>
          <a:noFill/>
        </p:spPr>
        <p:txBody>
          <a:bodyPr wrap="square" lIns="0" rIns="0" tIns="0" bIns="0" anchor="t">
            <a:spAutoFit/>
          </a:bodyPr>
          <a:lstStyle/>
          <a:p>
            <a:pPr algn="l">
              <a:lnSpc>
                <a:spcPct val="100000"/>
              </a:lnSpc>
            </a:pPr>
            <a:r>
              <a:rPr sz="1800" b="1">
                <a:solidFill>
                  <a:srgbClr val="2072B7"/>
                </a:solidFill>
                <a:latin typeface="Calibri"/>
              </a:rPr>
              <a:t>Thanh toán</a:t>
            </a:r>
          </a:p>
        </p:txBody>
      </p:sp>
      <p:sp>
        <p:nvSpPr>
          <p:cNvPr id="24" name="tb"/>
          <p:cNvSpPr txBox="1"/>
          <p:nvPr/>
        </p:nvSpPr>
        <p:spPr>
          <a:xfrm>
            <a:off x="7159752" y="4846320"/>
            <a:ext cx="4069080" cy="109728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Tiền mặt hoặc VNPay. Đơn đã thanh toán trực tuyến bị hủy sẽ chuyển "Đã hoàn tiền" để đối soát.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Giao diện khách hàng (ứng dụng di động)</a:t>
            </a:r>
          </a:p>
        </p:txBody>
      </p:sp>
      <p:pic>
        <p:nvPicPr>
          <p:cNvPr id="3" name="Picture 2" descr="4bcaec6c39da73d8b244310c9585a6cccfdd43dc.png"/>
          <p:cNvPicPr>
            <a:picLocks noChangeAspect="1"/>
          </p:cNvPicPr>
          <p:nvPr/>
        </p:nvPicPr>
        <p:blipFill>
          <a:blip r:embed="rId3"/>
          <a:stretch>
            <a:fillRect/>
          </a:stretch>
        </p:blipFill>
        <p:spPr>
          <a:xfrm>
            <a:off x="925596" y="1783080"/>
            <a:ext cx="1967905" cy="3840480"/>
          </a:xfrm>
          <a:prstGeom prst="rect">
            <a:avLst/>
          </a:prstGeom>
        </p:spPr>
      </p:pic>
      <p:sp>
        <p:nvSpPr>
          <p:cNvPr id="4" name="tb"/>
          <p:cNvSpPr txBox="1"/>
          <p:nvPr/>
        </p:nvSpPr>
        <p:spPr>
          <a:xfrm>
            <a:off x="559836" y="5715000"/>
            <a:ext cx="2699425" cy="365760"/>
          </a:xfrm>
          <a:prstGeom prst="rect">
            <a:avLst/>
          </a:prstGeom>
          <a:noFill/>
        </p:spPr>
        <p:txBody>
          <a:bodyPr wrap="square" lIns="0" rIns="0" tIns="0" bIns="0" anchor="t">
            <a:spAutoFit/>
          </a:bodyPr>
          <a:lstStyle/>
          <a:p>
            <a:pPr algn="ctr">
              <a:lnSpc>
                <a:spcPct val="100000"/>
              </a:lnSpc>
            </a:pPr>
            <a:r>
              <a:rPr sz="1500" b="1">
                <a:solidFill>
                  <a:srgbClr val="044F9E"/>
                </a:solidFill>
                <a:latin typeface="Calibri"/>
              </a:rPr>
              <a:t>Đăng nhập</a:t>
            </a:r>
          </a:p>
        </p:txBody>
      </p:sp>
      <p:pic>
        <p:nvPicPr>
          <p:cNvPr id="5" name="Picture 4" descr="4074590bbdcdc9cd73582f06ab8fab7943b2a96d.png"/>
          <p:cNvPicPr>
            <a:picLocks noChangeAspect="1"/>
          </p:cNvPicPr>
          <p:nvPr/>
        </p:nvPicPr>
        <p:blipFill>
          <a:blip r:embed="rId4"/>
          <a:stretch>
            <a:fillRect/>
          </a:stretch>
        </p:blipFill>
        <p:spPr>
          <a:xfrm>
            <a:off x="3716462" y="1783080"/>
            <a:ext cx="1967905" cy="3840480"/>
          </a:xfrm>
          <a:prstGeom prst="rect">
            <a:avLst/>
          </a:prstGeom>
        </p:spPr>
      </p:pic>
      <p:sp>
        <p:nvSpPr>
          <p:cNvPr id="6" name="tb"/>
          <p:cNvSpPr txBox="1"/>
          <p:nvPr/>
        </p:nvSpPr>
        <p:spPr>
          <a:xfrm>
            <a:off x="3350702" y="5715000"/>
            <a:ext cx="2699425" cy="365760"/>
          </a:xfrm>
          <a:prstGeom prst="rect">
            <a:avLst/>
          </a:prstGeom>
          <a:noFill/>
        </p:spPr>
        <p:txBody>
          <a:bodyPr wrap="square" lIns="0" rIns="0" tIns="0" bIns="0" anchor="t">
            <a:spAutoFit/>
          </a:bodyPr>
          <a:lstStyle/>
          <a:p>
            <a:pPr algn="ctr">
              <a:lnSpc>
                <a:spcPct val="100000"/>
              </a:lnSpc>
            </a:pPr>
            <a:r>
              <a:rPr sz="1500" b="1">
                <a:solidFill>
                  <a:srgbClr val="044F9E"/>
                </a:solidFill>
                <a:latin typeface="Calibri"/>
              </a:rPr>
              <a:t>Trang chủ</a:t>
            </a:r>
          </a:p>
        </p:txBody>
      </p:sp>
      <p:pic>
        <p:nvPicPr>
          <p:cNvPr id="7" name="Picture 6" descr="26550710897116d48d85237494587b1f0ff382a0.png"/>
          <p:cNvPicPr>
            <a:picLocks noChangeAspect="1"/>
          </p:cNvPicPr>
          <p:nvPr/>
        </p:nvPicPr>
        <p:blipFill>
          <a:blip r:embed="rId5"/>
          <a:stretch>
            <a:fillRect/>
          </a:stretch>
        </p:blipFill>
        <p:spPr>
          <a:xfrm>
            <a:off x="6507327" y="1783080"/>
            <a:ext cx="1967905" cy="3840480"/>
          </a:xfrm>
          <a:prstGeom prst="rect">
            <a:avLst/>
          </a:prstGeom>
        </p:spPr>
      </p:pic>
      <p:sp>
        <p:nvSpPr>
          <p:cNvPr id="8" name="tb"/>
          <p:cNvSpPr txBox="1"/>
          <p:nvPr/>
        </p:nvSpPr>
        <p:spPr>
          <a:xfrm>
            <a:off x="6141567" y="5715000"/>
            <a:ext cx="2699425" cy="365760"/>
          </a:xfrm>
          <a:prstGeom prst="rect">
            <a:avLst/>
          </a:prstGeom>
          <a:noFill/>
        </p:spPr>
        <p:txBody>
          <a:bodyPr wrap="square" lIns="0" rIns="0" tIns="0" bIns="0" anchor="t">
            <a:spAutoFit/>
          </a:bodyPr>
          <a:lstStyle/>
          <a:p>
            <a:pPr algn="ctr">
              <a:lnSpc>
                <a:spcPct val="100000"/>
              </a:lnSpc>
            </a:pPr>
            <a:r>
              <a:rPr sz="1500" b="1">
                <a:solidFill>
                  <a:srgbClr val="044F9E"/>
                </a:solidFill>
                <a:latin typeface="Calibri"/>
              </a:rPr>
              <a:t>Giỏ hàng và đặt hàng</a:t>
            </a:r>
          </a:p>
        </p:txBody>
      </p:sp>
      <p:pic>
        <p:nvPicPr>
          <p:cNvPr id="9" name="Picture 8" descr="87fb2cb2a21beda519d3ed45c86123fa5fcad5a3.png"/>
          <p:cNvPicPr>
            <a:picLocks noChangeAspect="1"/>
          </p:cNvPicPr>
          <p:nvPr/>
        </p:nvPicPr>
        <p:blipFill>
          <a:blip r:embed="rId6"/>
          <a:stretch>
            <a:fillRect/>
          </a:stretch>
        </p:blipFill>
        <p:spPr>
          <a:xfrm>
            <a:off x="9298193" y="1783080"/>
            <a:ext cx="1967905" cy="3840480"/>
          </a:xfrm>
          <a:prstGeom prst="rect">
            <a:avLst/>
          </a:prstGeom>
        </p:spPr>
      </p:pic>
      <p:sp>
        <p:nvSpPr>
          <p:cNvPr id="10" name="tb"/>
          <p:cNvSpPr txBox="1"/>
          <p:nvPr/>
        </p:nvSpPr>
        <p:spPr>
          <a:xfrm>
            <a:off x="8932433" y="5715000"/>
            <a:ext cx="2699425" cy="365760"/>
          </a:xfrm>
          <a:prstGeom prst="rect">
            <a:avLst/>
          </a:prstGeom>
          <a:noFill/>
        </p:spPr>
        <p:txBody>
          <a:bodyPr wrap="square" lIns="0" rIns="0" tIns="0" bIns="0" anchor="t">
            <a:spAutoFit/>
          </a:bodyPr>
          <a:lstStyle/>
          <a:p>
            <a:pPr algn="ctr">
              <a:lnSpc>
                <a:spcPct val="100000"/>
              </a:lnSpc>
            </a:pPr>
            <a:r>
              <a:rPr sz="1500" b="1">
                <a:solidFill>
                  <a:srgbClr val="044F9E"/>
                </a:solidFill>
                <a:latin typeface="Calibri"/>
              </a:rPr>
              <a:t>Theo dõi đơn hàng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Giao diện gian hàng (website)</a:t>
            </a:r>
          </a:p>
        </p:txBody>
      </p:sp>
      <p:pic>
        <p:nvPicPr>
          <p:cNvPr id="3" name="Picture 2" descr="c7f7e0e901adad7f31bda84b1ea02c3b246d89fe.png"/>
          <p:cNvPicPr>
            <a:picLocks noChangeAspect="1"/>
          </p:cNvPicPr>
          <p:nvPr/>
        </p:nvPicPr>
        <p:blipFill>
          <a:blip r:embed="rId3"/>
          <a:stretch>
            <a:fillRect/>
          </a:stretch>
        </p:blipFill>
        <p:spPr>
          <a:xfrm>
            <a:off x="822960" y="1920240"/>
            <a:ext cx="3383280" cy="2034750"/>
          </a:xfrm>
          <a:prstGeom prst="rect">
            <a:avLst/>
          </a:prstGeom>
          <a:ln w="12700">
            <a:solidFill>
              <a:srgbClr val="D3E1F0"/>
            </a:solidFill>
          </a:ln>
        </p:spPr>
      </p:pic>
      <p:sp>
        <p:nvSpPr>
          <p:cNvPr id="4" name="tb"/>
          <p:cNvSpPr txBox="1"/>
          <p:nvPr/>
        </p:nvSpPr>
        <p:spPr>
          <a:xfrm>
            <a:off x="822960" y="4251960"/>
            <a:ext cx="33832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Quản lý đơn hàng</a:t>
            </a:r>
          </a:p>
        </p:txBody>
      </p:sp>
      <p:sp>
        <p:nvSpPr>
          <p:cNvPr id="5" name="tb"/>
          <p:cNvSpPr txBox="1"/>
          <p:nvPr/>
        </p:nvSpPr>
        <p:spPr>
          <a:xfrm>
            <a:off x="822960" y="4663440"/>
            <a:ext cx="3383280" cy="73152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Lọc đơn theo trạng thái, xác nhận nhanh</a:t>
            </a:r>
          </a:p>
        </p:txBody>
      </p:sp>
      <p:pic>
        <p:nvPicPr>
          <p:cNvPr id="6" name="Picture 5" descr="45e8bcffef4749cceda176b86f09c5ba3144fc24.png"/>
          <p:cNvPicPr>
            <a:picLocks noChangeAspect="1"/>
          </p:cNvPicPr>
          <p:nvPr/>
        </p:nvPicPr>
        <p:blipFill>
          <a:blip r:embed="rId4"/>
          <a:stretch>
            <a:fillRect/>
          </a:stretch>
        </p:blipFill>
        <p:spPr>
          <a:xfrm>
            <a:off x="4389120" y="1920240"/>
            <a:ext cx="3383280" cy="2034750"/>
          </a:xfrm>
          <a:prstGeom prst="rect">
            <a:avLst/>
          </a:prstGeom>
          <a:ln w="12700">
            <a:solidFill>
              <a:srgbClr val="D3E1F0"/>
            </a:solidFill>
          </a:ln>
        </p:spPr>
      </p:pic>
      <p:sp>
        <p:nvSpPr>
          <p:cNvPr id="7" name="tb"/>
          <p:cNvSpPr txBox="1"/>
          <p:nvPr/>
        </p:nvSpPr>
        <p:spPr>
          <a:xfrm>
            <a:off x="4389120" y="4251960"/>
            <a:ext cx="33832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Quản lý thực đơn</a:t>
            </a:r>
          </a:p>
        </p:txBody>
      </p:sp>
      <p:sp>
        <p:nvSpPr>
          <p:cNvPr id="8" name="tb"/>
          <p:cNvSpPr txBox="1"/>
          <p:nvPr/>
        </p:nvSpPr>
        <p:spPr>
          <a:xfrm>
            <a:off x="4389120" y="4663440"/>
            <a:ext cx="3383280" cy="73152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Thêm, sửa, ngừng bán món theo danh mục</a:t>
            </a:r>
          </a:p>
        </p:txBody>
      </p:sp>
      <p:pic>
        <p:nvPicPr>
          <p:cNvPr id="9" name="Picture 8" descr="3f31457a6fa7d29b92adb354306b7c0da65e9beb.png"/>
          <p:cNvPicPr>
            <a:picLocks noChangeAspect="1"/>
          </p:cNvPicPr>
          <p:nvPr/>
        </p:nvPicPr>
        <p:blipFill>
          <a:blip r:embed="rId5"/>
          <a:stretch>
            <a:fillRect/>
          </a:stretch>
        </p:blipFill>
        <p:spPr>
          <a:xfrm>
            <a:off x="7955279" y="1920240"/>
            <a:ext cx="3383280" cy="2034750"/>
          </a:xfrm>
          <a:prstGeom prst="rect">
            <a:avLst/>
          </a:prstGeom>
          <a:ln w="12700">
            <a:solidFill>
              <a:srgbClr val="D3E1F0"/>
            </a:solidFill>
          </a:ln>
        </p:spPr>
      </p:pic>
      <p:sp>
        <p:nvSpPr>
          <p:cNvPr id="10" name="tb"/>
          <p:cNvSpPr txBox="1"/>
          <p:nvPr/>
        </p:nvSpPr>
        <p:spPr>
          <a:xfrm>
            <a:off x="7955279" y="4251960"/>
            <a:ext cx="33832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Báo cáo doanh thu</a:t>
            </a:r>
          </a:p>
        </p:txBody>
      </p:sp>
      <p:sp>
        <p:nvSpPr>
          <p:cNvPr id="11" name="tb"/>
          <p:cNvSpPr txBox="1"/>
          <p:nvPr/>
        </p:nvSpPr>
        <p:spPr>
          <a:xfrm>
            <a:off x="7955279" y="4663440"/>
            <a:ext cx="3383280" cy="73152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Doanh thu theo ngày, món bán chạy</a:t>
            </a:r>
          </a:p>
        </p:txBody>
      </p:sp>
      <p:sp>
        <p:nvSpPr>
          <p:cNvPr id="12" name="Rounded Rectangle 11"/>
          <p:cNvSpPr/>
          <p:nvPr/>
        </p:nvSpPr>
        <p:spPr>
          <a:xfrm>
            <a:off x="822960" y="5349240"/>
            <a:ext cx="10515600" cy="73152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b"/>
          <p:cNvSpPr txBox="1"/>
          <p:nvPr/>
        </p:nvSpPr>
        <p:spPr>
          <a:xfrm>
            <a:off x="1097280" y="5349240"/>
            <a:ext cx="9966960" cy="731520"/>
          </a:xfrm>
          <a:prstGeom prst="rect">
            <a:avLst/>
          </a:prstGeom>
          <a:noFill/>
        </p:spPr>
        <p:txBody>
          <a:bodyPr wrap="square" lIns="0" rIns="0" tIns="0" bIns="0" anchor="ctr">
            <a:spAutoFit/>
          </a:bodyPr>
          <a:lstStyle/>
          <a:p>
            <a:pPr algn="l">
              <a:lnSpc>
                <a:spcPct val="100000"/>
              </a:lnSpc>
            </a:pPr>
            <a:r>
              <a:rPr sz="1500" b="1">
                <a:solidFill>
                  <a:srgbClr val="044F9E"/>
                </a:solidFill>
                <a:latin typeface="Calibri"/>
              </a:rPr>
              <a:t>Gian hàng mới đăng ký ở trạng thái "Chờ duyệt"; chỉ sau khi quản trị viên duyệt mới được mở bán.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Kỹ thuật và tính năng nổi bật</a:t>
            </a:r>
          </a:p>
        </p:txBody>
      </p:sp>
      <p:sp>
        <p:nvSpPr>
          <p:cNvPr id="3" name="Rounded Rectangle 2"/>
          <p:cNvSpPr/>
          <p:nvPr/>
        </p:nvSpPr>
        <p:spPr>
          <a:xfrm>
            <a:off x="822960" y="182880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 y="2103120"/>
            <a:ext cx="685800" cy="6858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in_w.png"/>
          <p:cNvPicPr>
            <a:picLocks noChangeAspect="1"/>
          </p:cNvPicPr>
          <p:nvPr/>
        </p:nvPicPr>
        <p:blipFill>
          <a:blip r:embed="rId3"/>
          <a:stretch>
            <a:fillRect/>
          </a:stretch>
        </p:blipFill>
        <p:spPr>
          <a:xfrm>
            <a:off x="1225295" y="2276856"/>
            <a:ext cx="338328" cy="338328"/>
          </a:xfrm>
          <a:prstGeom prst="rect">
            <a:avLst/>
          </a:prstGeom>
        </p:spPr>
      </p:pic>
      <p:sp>
        <p:nvSpPr>
          <p:cNvPr id="6" name="tb"/>
          <p:cNvSpPr txBox="1"/>
          <p:nvPr/>
        </p:nvSpPr>
        <p:spPr>
          <a:xfrm>
            <a:off x="1920240" y="2011680"/>
            <a:ext cx="3840480" cy="411480"/>
          </a:xfrm>
          <a:prstGeom prst="rect">
            <a:avLst/>
          </a:prstGeom>
          <a:noFill/>
        </p:spPr>
        <p:txBody>
          <a:bodyPr wrap="square" lIns="0" rIns="0" tIns="0" bIns="0" anchor="t">
            <a:spAutoFit/>
          </a:bodyPr>
          <a:lstStyle/>
          <a:p>
            <a:pPr algn="l">
              <a:lnSpc>
                <a:spcPct val="100000"/>
              </a:lnSpc>
            </a:pPr>
            <a:r>
              <a:rPr sz="1700" b="1">
                <a:solidFill>
                  <a:srgbClr val="044F9E"/>
                </a:solidFill>
                <a:latin typeface="Calibri"/>
              </a:rPr>
              <a:t>Phí giao hàng theo khoảng cách</a:t>
            </a:r>
          </a:p>
        </p:txBody>
      </p:sp>
      <p:sp>
        <p:nvSpPr>
          <p:cNvPr id="7" name="tb"/>
          <p:cNvSpPr txBox="1"/>
          <p:nvPr/>
        </p:nvSpPr>
        <p:spPr>
          <a:xfrm>
            <a:off x="1920240" y="2468880"/>
            <a:ext cx="3840480" cy="128016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Goong Maps chuyển địa chỉ thành tọa độ rồi tính khoảng cách. Phí = số km làm tròn lên × 5.000đ; lỗi thì dùng mặc định 15.000đ.</a:t>
            </a:r>
          </a:p>
        </p:txBody>
      </p:sp>
      <p:sp>
        <p:nvSpPr>
          <p:cNvPr id="8" name="Rounded Rectangle 7"/>
          <p:cNvSpPr/>
          <p:nvPr/>
        </p:nvSpPr>
        <p:spPr>
          <a:xfrm>
            <a:off x="6172200" y="182880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0" y="2103120"/>
            <a:ext cx="685800" cy="68580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ag_w.png"/>
          <p:cNvPicPr>
            <a:picLocks noChangeAspect="1"/>
          </p:cNvPicPr>
          <p:nvPr/>
        </p:nvPicPr>
        <p:blipFill>
          <a:blip r:embed="rId4"/>
          <a:stretch>
            <a:fillRect/>
          </a:stretch>
        </p:blipFill>
        <p:spPr>
          <a:xfrm>
            <a:off x="6574536" y="2276856"/>
            <a:ext cx="338328" cy="338328"/>
          </a:xfrm>
          <a:prstGeom prst="rect">
            <a:avLst/>
          </a:prstGeom>
        </p:spPr>
      </p:pic>
      <p:sp>
        <p:nvSpPr>
          <p:cNvPr id="11" name="tb"/>
          <p:cNvSpPr txBox="1"/>
          <p:nvPr/>
        </p:nvSpPr>
        <p:spPr>
          <a:xfrm>
            <a:off x="7269480" y="2011680"/>
            <a:ext cx="3840480" cy="411480"/>
          </a:xfrm>
          <a:prstGeom prst="rect">
            <a:avLst/>
          </a:prstGeom>
          <a:noFill/>
        </p:spPr>
        <p:txBody>
          <a:bodyPr wrap="square" lIns="0" rIns="0" tIns="0" bIns="0" anchor="t">
            <a:spAutoFit/>
          </a:bodyPr>
          <a:lstStyle/>
          <a:p>
            <a:pPr algn="l">
              <a:lnSpc>
                <a:spcPct val="100000"/>
              </a:lnSpc>
            </a:pPr>
            <a:r>
              <a:rPr sz="1700" b="1">
                <a:solidFill>
                  <a:srgbClr val="044F9E"/>
                </a:solidFill>
                <a:latin typeface="Calibri"/>
              </a:rPr>
              <a:t>Mã khuyến mãi</a:t>
            </a:r>
          </a:p>
        </p:txBody>
      </p:sp>
      <p:sp>
        <p:nvSpPr>
          <p:cNvPr id="12" name="tb"/>
          <p:cNvSpPr txBox="1"/>
          <p:nvPr/>
        </p:nvSpPr>
        <p:spPr>
          <a:xfrm>
            <a:off x="7269480" y="2468880"/>
            <a:ext cx="3840480" cy="128016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Hợp lệ khi đang kích hoạt, đúng phạm vi (toàn hệ thống hoặc gian hàng) và trong hạn. Giảm theo phần trăm hoặc số tiền cố định.</a:t>
            </a:r>
          </a:p>
        </p:txBody>
      </p:sp>
      <p:sp>
        <p:nvSpPr>
          <p:cNvPr id="13" name="Rounded Rectangle 12"/>
          <p:cNvSpPr/>
          <p:nvPr/>
        </p:nvSpPr>
        <p:spPr>
          <a:xfrm>
            <a:off x="822960" y="402336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4297680"/>
            <a:ext cx="685800" cy="68580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rd_w.png"/>
          <p:cNvPicPr>
            <a:picLocks noChangeAspect="1"/>
          </p:cNvPicPr>
          <p:nvPr/>
        </p:nvPicPr>
        <p:blipFill>
          <a:blip r:embed="rId5"/>
          <a:stretch>
            <a:fillRect/>
          </a:stretch>
        </p:blipFill>
        <p:spPr>
          <a:xfrm>
            <a:off x="1225295" y="4471416"/>
            <a:ext cx="338328" cy="338328"/>
          </a:xfrm>
          <a:prstGeom prst="rect">
            <a:avLst/>
          </a:prstGeom>
        </p:spPr>
      </p:pic>
      <p:sp>
        <p:nvSpPr>
          <p:cNvPr id="16" name="tb"/>
          <p:cNvSpPr txBox="1"/>
          <p:nvPr/>
        </p:nvSpPr>
        <p:spPr>
          <a:xfrm>
            <a:off x="1920240" y="4206240"/>
            <a:ext cx="3840480" cy="411480"/>
          </a:xfrm>
          <a:prstGeom prst="rect">
            <a:avLst/>
          </a:prstGeom>
          <a:noFill/>
        </p:spPr>
        <p:txBody>
          <a:bodyPr wrap="square" lIns="0" rIns="0" tIns="0" bIns="0" anchor="t">
            <a:spAutoFit/>
          </a:bodyPr>
          <a:lstStyle/>
          <a:p>
            <a:pPr algn="l">
              <a:lnSpc>
                <a:spcPct val="100000"/>
              </a:lnSpc>
            </a:pPr>
            <a:r>
              <a:rPr sz="1700" b="1">
                <a:solidFill>
                  <a:srgbClr val="044F9E"/>
                </a:solidFill>
                <a:latin typeface="Calibri"/>
              </a:rPr>
              <a:t>Thanh toán VNPay</a:t>
            </a:r>
          </a:p>
        </p:txBody>
      </p:sp>
      <p:sp>
        <p:nvSpPr>
          <p:cNvPr id="17" name="tb"/>
          <p:cNvSpPr txBox="1"/>
          <p:nvPr/>
        </p:nvSpPr>
        <p:spPr>
          <a:xfrm>
            <a:off x="1920240" y="4663440"/>
            <a:ext cx="3840480" cy="128016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Kiểm tra chữ ký kết quả trả về, cập nhật thanh toán một lần (idempotent). Hỗ trợ thêm tiền mặt; Momo chưa hỗ trợ.</a:t>
            </a:r>
          </a:p>
        </p:txBody>
      </p:sp>
      <p:sp>
        <p:nvSpPr>
          <p:cNvPr id="18" name="Rounded Rectangle 17"/>
          <p:cNvSpPr/>
          <p:nvPr/>
        </p:nvSpPr>
        <p:spPr>
          <a:xfrm>
            <a:off x="6172200" y="402336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0" y="4297680"/>
            <a:ext cx="685800" cy="68580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ock_w.png"/>
          <p:cNvPicPr>
            <a:picLocks noChangeAspect="1"/>
          </p:cNvPicPr>
          <p:nvPr/>
        </p:nvPicPr>
        <p:blipFill>
          <a:blip r:embed="rId6"/>
          <a:stretch>
            <a:fillRect/>
          </a:stretch>
        </p:blipFill>
        <p:spPr>
          <a:xfrm>
            <a:off x="6574536" y="4471416"/>
            <a:ext cx="338328" cy="338328"/>
          </a:xfrm>
          <a:prstGeom prst="rect">
            <a:avLst/>
          </a:prstGeom>
        </p:spPr>
      </p:pic>
      <p:sp>
        <p:nvSpPr>
          <p:cNvPr id="21" name="tb"/>
          <p:cNvSpPr txBox="1"/>
          <p:nvPr/>
        </p:nvSpPr>
        <p:spPr>
          <a:xfrm>
            <a:off x="7269480" y="4206240"/>
            <a:ext cx="3840480" cy="411480"/>
          </a:xfrm>
          <a:prstGeom prst="rect">
            <a:avLst/>
          </a:prstGeom>
          <a:noFill/>
        </p:spPr>
        <p:txBody>
          <a:bodyPr wrap="square" lIns="0" rIns="0" tIns="0" bIns="0" anchor="t">
            <a:spAutoFit/>
          </a:bodyPr>
          <a:lstStyle/>
          <a:p>
            <a:pPr algn="l">
              <a:lnSpc>
                <a:spcPct val="100000"/>
              </a:lnSpc>
            </a:pPr>
            <a:r>
              <a:rPr sz="1700" b="1">
                <a:solidFill>
                  <a:srgbClr val="044F9E"/>
                </a:solidFill>
                <a:latin typeface="Calibri"/>
              </a:rPr>
              <a:t>Bảo mật tài khoản</a:t>
            </a:r>
          </a:p>
        </p:txBody>
      </p:sp>
      <p:sp>
        <p:nvSpPr>
          <p:cNvPr id="22" name="tb"/>
          <p:cNvSpPr txBox="1"/>
          <p:nvPr/>
        </p:nvSpPr>
        <p:spPr>
          <a:xfrm>
            <a:off x="7269480" y="4663440"/>
            <a:ext cx="3840480" cy="128016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Mật khẩu băm BCrypt; website dùng cookie, API dùng JWT; phân quyền theo vai trò và chống giả mạo yêu cầu (anti-forgery).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Các chức năng dành cho khách hàng</a:t>
            </a:r>
          </a:p>
        </p:txBody>
      </p:sp>
      <p:sp>
        <p:nvSpPr>
          <p:cNvPr id="3" name="Rounded Rectangle 2"/>
          <p:cNvSpPr/>
          <p:nvPr/>
        </p:nvSpPr>
        <p:spPr>
          <a:xfrm>
            <a:off x="822960" y="182880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210312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t_w.png"/>
          <p:cNvPicPr>
            <a:picLocks noChangeAspect="1"/>
          </p:cNvPicPr>
          <p:nvPr/>
        </p:nvPicPr>
        <p:blipFill>
          <a:blip r:embed="rId3"/>
          <a:stretch>
            <a:fillRect/>
          </a:stretch>
        </p:blipFill>
        <p:spPr>
          <a:xfrm>
            <a:off x="1261872" y="2267712"/>
            <a:ext cx="310896" cy="310896"/>
          </a:xfrm>
          <a:prstGeom prst="rect">
            <a:avLst/>
          </a:prstGeom>
        </p:spPr>
      </p:pic>
      <p:sp>
        <p:nvSpPr>
          <p:cNvPr id="6" name="tb"/>
          <p:cNvSpPr txBox="1"/>
          <p:nvPr/>
        </p:nvSpPr>
        <p:spPr>
          <a:xfrm>
            <a:off x="1097280" y="288036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Tìm kiếm</a:t>
            </a:r>
          </a:p>
        </p:txBody>
      </p:sp>
      <p:sp>
        <p:nvSpPr>
          <p:cNvPr id="7" name="tb"/>
          <p:cNvSpPr txBox="1"/>
          <p:nvPr/>
        </p:nvSpPr>
        <p:spPr>
          <a:xfrm>
            <a:off x="1097280" y="3246120"/>
            <a:ext cx="2926080" cy="54864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Theo tên gian hàng hoặc tên món ăn</a:t>
            </a:r>
          </a:p>
        </p:txBody>
      </p:sp>
      <p:sp>
        <p:nvSpPr>
          <p:cNvPr id="8" name="Rounded Rectangle 7"/>
          <p:cNvSpPr/>
          <p:nvPr/>
        </p:nvSpPr>
        <p:spPr>
          <a:xfrm>
            <a:off x="4389120" y="182880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63440" y="210312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st_w.png"/>
          <p:cNvPicPr>
            <a:picLocks noChangeAspect="1"/>
          </p:cNvPicPr>
          <p:nvPr/>
        </p:nvPicPr>
        <p:blipFill>
          <a:blip r:embed="rId4"/>
          <a:stretch>
            <a:fillRect/>
          </a:stretch>
        </p:blipFill>
        <p:spPr>
          <a:xfrm>
            <a:off x="4828031" y="2267712"/>
            <a:ext cx="310896" cy="310896"/>
          </a:xfrm>
          <a:prstGeom prst="rect">
            <a:avLst/>
          </a:prstGeom>
        </p:spPr>
      </p:pic>
      <p:sp>
        <p:nvSpPr>
          <p:cNvPr id="11" name="tb"/>
          <p:cNvSpPr txBox="1"/>
          <p:nvPr/>
        </p:nvSpPr>
        <p:spPr>
          <a:xfrm>
            <a:off x="4663440" y="288036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Chi tiết món</a:t>
            </a:r>
          </a:p>
        </p:txBody>
      </p:sp>
      <p:sp>
        <p:nvSpPr>
          <p:cNvPr id="12" name="tb"/>
          <p:cNvSpPr txBox="1"/>
          <p:nvPr/>
        </p:nvSpPr>
        <p:spPr>
          <a:xfrm>
            <a:off x="4663440" y="3246120"/>
            <a:ext cx="2926080" cy="54864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Ảnh, mô tả, giá, điểm đánh giá của món</a:t>
            </a:r>
          </a:p>
        </p:txBody>
      </p:sp>
      <p:sp>
        <p:nvSpPr>
          <p:cNvPr id="13" name="Rounded Rectangle 12"/>
          <p:cNvSpPr/>
          <p:nvPr/>
        </p:nvSpPr>
        <p:spPr>
          <a:xfrm>
            <a:off x="7955279" y="182880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600" y="210312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tar_w.png"/>
          <p:cNvPicPr>
            <a:picLocks noChangeAspect="1"/>
          </p:cNvPicPr>
          <p:nvPr/>
        </p:nvPicPr>
        <p:blipFill>
          <a:blip r:embed="rId5"/>
          <a:stretch>
            <a:fillRect/>
          </a:stretch>
        </p:blipFill>
        <p:spPr>
          <a:xfrm>
            <a:off x="8394192" y="2267712"/>
            <a:ext cx="310896" cy="310896"/>
          </a:xfrm>
          <a:prstGeom prst="rect">
            <a:avLst/>
          </a:prstGeom>
        </p:spPr>
      </p:pic>
      <p:sp>
        <p:nvSpPr>
          <p:cNvPr id="16" name="tb"/>
          <p:cNvSpPr txBox="1"/>
          <p:nvPr/>
        </p:nvSpPr>
        <p:spPr>
          <a:xfrm>
            <a:off x="8229600" y="288036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Đánh giá</a:t>
            </a:r>
          </a:p>
        </p:txBody>
      </p:sp>
      <p:sp>
        <p:nvSpPr>
          <p:cNvPr id="17" name="tb"/>
          <p:cNvSpPr txBox="1"/>
          <p:nvPr/>
        </p:nvSpPr>
        <p:spPr>
          <a:xfrm>
            <a:off x="8229600" y="3246120"/>
            <a:ext cx="2926080" cy="54864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Đánh giá gian hàng và từng món trong đơn</a:t>
            </a:r>
          </a:p>
        </p:txBody>
      </p:sp>
      <p:sp>
        <p:nvSpPr>
          <p:cNvPr id="18" name="Rounded Rectangle 17"/>
          <p:cNvSpPr/>
          <p:nvPr/>
        </p:nvSpPr>
        <p:spPr>
          <a:xfrm>
            <a:off x="822960" y="402336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7280" y="429768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in_w.png"/>
          <p:cNvPicPr>
            <a:picLocks noChangeAspect="1"/>
          </p:cNvPicPr>
          <p:nvPr/>
        </p:nvPicPr>
        <p:blipFill>
          <a:blip r:embed="rId6"/>
          <a:stretch>
            <a:fillRect/>
          </a:stretch>
        </p:blipFill>
        <p:spPr>
          <a:xfrm>
            <a:off x="1261872" y="4462272"/>
            <a:ext cx="310896" cy="310896"/>
          </a:xfrm>
          <a:prstGeom prst="rect">
            <a:avLst/>
          </a:prstGeom>
        </p:spPr>
      </p:pic>
      <p:sp>
        <p:nvSpPr>
          <p:cNvPr id="21" name="tb"/>
          <p:cNvSpPr txBox="1"/>
          <p:nvPr/>
        </p:nvSpPr>
        <p:spPr>
          <a:xfrm>
            <a:off x="1097280" y="507492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Sổ địa chỉ</a:t>
            </a:r>
          </a:p>
        </p:txBody>
      </p:sp>
      <p:sp>
        <p:nvSpPr>
          <p:cNvPr id="22" name="tb"/>
          <p:cNvSpPr txBox="1"/>
          <p:nvPr/>
        </p:nvSpPr>
        <p:spPr>
          <a:xfrm>
            <a:off x="1097280" y="5440680"/>
            <a:ext cx="2926080" cy="54864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Lưu tối đa 10 địa chỉ, chọn nhanh khi thanh toán</a:t>
            </a:r>
          </a:p>
        </p:txBody>
      </p:sp>
      <p:sp>
        <p:nvSpPr>
          <p:cNvPr id="23" name="Rounded Rectangle 22"/>
          <p:cNvSpPr/>
          <p:nvPr/>
        </p:nvSpPr>
        <p:spPr>
          <a:xfrm>
            <a:off x="4389120" y="402336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63440" y="429768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omment_w.png"/>
          <p:cNvPicPr>
            <a:picLocks noChangeAspect="1"/>
          </p:cNvPicPr>
          <p:nvPr/>
        </p:nvPicPr>
        <p:blipFill>
          <a:blip r:embed="rId7"/>
          <a:stretch>
            <a:fillRect/>
          </a:stretch>
        </p:blipFill>
        <p:spPr>
          <a:xfrm>
            <a:off x="4828031" y="4462272"/>
            <a:ext cx="310896" cy="310896"/>
          </a:xfrm>
          <a:prstGeom prst="rect">
            <a:avLst/>
          </a:prstGeom>
        </p:spPr>
      </p:pic>
      <p:sp>
        <p:nvSpPr>
          <p:cNvPr id="26" name="tb"/>
          <p:cNvSpPr txBox="1"/>
          <p:nvPr/>
        </p:nvSpPr>
        <p:spPr>
          <a:xfrm>
            <a:off x="4663440" y="507492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Phản hồi</a:t>
            </a:r>
          </a:p>
        </p:txBody>
      </p:sp>
      <p:sp>
        <p:nvSpPr>
          <p:cNvPr id="27" name="tb"/>
          <p:cNvSpPr txBox="1"/>
          <p:nvPr/>
        </p:nvSpPr>
        <p:spPr>
          <a:xfrm>
            <a:off x="4663440" y="5440680"/>
            <a:ext cx="2926080" cy="54864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Gửi góp ý, khiếu nại; xem trả lời của quản trị</a:t>
            </a:r>
          </a:p>
        </p:txBody>
      </p:sp>
      <p:sp>
        <p:nvSpPr>
          <p:cNvPr id="28" name="Rounded Rectangle 27"/>
          <p:cNvSpPr/>
          <p:nvPr/>
        </p:nvSpPr>
        <p:spPr>
          <a:xfrm>
            <a:off x="7955279" y="402336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29600" y="429768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route_w.png"/>
          <p:cNvPicPr>
            <a:picLocks noChangeAspect="1"/>
          </p:cNvPicPr>
          <p:nvPr/>
        </p:nvPicPr>
        <p:blipFill>
          <a:blip r:embed="rId8"/>
          <a:stretch>
            <a:fillRect/>
          </a:stretch>
        </p:blipFill>
        <p:spPr>
          <a:xfrm>
            <a:off x="8394192" y="4462272"/>
            <a:ext cx="310896" cy="310896"/>
          </a:xfrm>
          <a:prstGeom prst="rect">
            <a:avLst/>
          </a:prstGeom>
        </p:spPr>
      </p:pic>
      <p:sp>
        <p:nvSpPr>
          <p:cNvPr id="31" name="tb"/>
          <p:cNvSpPr txBox="1"/>
          <p:nvPr/>
        </p:nvSpPr>
        <p:spPr>
          <a:xfrm>
            <a:off x="8229600" y="507492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Theo dõi đơn</a:t>
            </a:r>
          </a:p>
        </p:txBody>
      </p:sp>
      <p:sp>
        <p:nvSpPr>
          <p:cNvPr id="32" name="tb"/>
          <p:cNvSpPr txBox="1"/>
          <p:nvPr/>
        </p:nvSpPr>
        <p:spPr>
          <a:xfrm>
            <a:off x="8229600" y="5440680"/>
            <a:ext cx="2926080" cy="548640"/>
          </a:xfrm>
          <a:prstGeom prst="rect">
            <a:avLst/>
          </a:prstGeom>
          <a:noFill/>
        </p:spPr>
        <p:txBody>
          <a:bodyPr wrap="square" lIns="0" rIns="0" tIns="0" bIns="0" anchor="t">
            <a:spAutoFit/>
          </a:bodyPr>
          <a:lstStyle/>
          <a:p>
            <a:pPr algn="l">
              <a:lnSpc>
                <a:spcPct val="100000"/>
              </a:lnSpc>
            </a:pPr>
            <a:r>
              <a:rPr sz="1400" b="0">
                <a:solidFill>
                  <a:srgbClr val="5B6775"/>
                </a:solidFill>
                <a:latin typeface="Calibri"/>
              </a:rPr>
              <a:t>Thanh tiến trình và thông tin tài xế</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Kiểm thử hệ thống</a:t>
            </a:r>
          </a:p>
        </p:txBody>
      </p:sp>
      <p:graphicFrame>
        <p:nvGraphicFramePr>
          <p:cNvPr id="3" name="Chart 2"/>
          <p:cNvGraphicFramePr>
            <a:graphicFrameLocks noGrp="1"/>
          </p:cNvGraphicFramePr>
          <p:nvPr/>
        </p:nvGraphicFramePr>
        <p:xfrm>
          <a:off x="822960" y="1783080"/>
          <a:ext cx="6583680" cy="4389120"/>
        </p:xfrm>
        <a:graphic>
          <a:graphicData uri="http://schemas.openxmlformats.org/drawingml/2006/chart">
            <c:chart xmlns:c="http://schemas.openxmlformats.org/drawingml/2006/chart" r:id="rId3"/>
          </a:graphicData>
        </a:graphic>
      </p:graphicFrame>
      <p:sp>
        <p:nvSpPr>
          <p:cNvPr id="4" name="Rounded Rectangle 3"/>
          <p:cNvSpPr/>
          <p:nvPr/>
        </p:nvSpPr>
        <p:spPr>
          <a:xfrm>
            <a:off x="7772400" y="1828800"/>
            <a:ext cx="3593592" cy="1828800"/>
          </a:xfrm>
          <a:prstGeom prst="roundRect">
            <a:avLst>
              <a:gd name="adj" fmla="val 6000"/>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b"/>
          <p:cNvSpPr txBox="1"/>
          <p:nvPr/>
        </p:nvSpPr>
        <p:spPr>
          <a:xfrm>
            <a:off x="7772400" y="1920240"/>
            <a:ext cx="3593592" cy="1097280"/>
          </a:xfrm>
          <a:prstGeom prst="rect">
            <a:avLst/>
          </a:prstGeom>
          <a:noFill/>
        </p:spPr>
        <p:txBody>
          <a:bodyPr wrap="square" lIns="0" rIns="0" tIns="0" bIns="0" anchor="ctr">
            <a:spAutoFit/>
          </a:bodyPr>
          <a:lstStyle/>
          <a:p>
            <a:pPr algn="ctr">
              <a:lnSpc>
                <a:spcPct val="100000"/>
              </a:lnSpc>
            </a:pPr>
            <a:r>
              <a:rPr sz="6600" b="1">
                <a:solidFill>
                  <a:srgbClr val="FFFFFF"/>
                </a:solidFill>
                <a:latin typeface="Calibri"/>
              </a:rPr>
              <a:t>49</a:t>
            </a:r>
          </a:p>
        </p:txBody>
      </p:sp>
      <p:sp>
        <p:nvSpPr>
          <p:cNvPr id="6" name="tb"/>
          <p:cNvSpPr txBox="1"/>
          <p:nvPr/>
        </p:nvSpPr>
        <p:spPr>
          <a:xfrm>
            <a:off x="7772400" y="3017520"/>
            <a:ext cx="3593592" cy="457200"/>
          </a:xfrm>
          <a:prstGeom prst="rect">
            <a:avLst/>
          </a:prstGeom>
          <a:noFill/>
        </p:spPr>
        <p:txBody>
          <a:bodyPr wrap="square" lIns="0" rIns="0" tIns="0" bIns="0" anchor="t">
            <a:spAutoFit/>
          </a:bodyPr>
          <a:lstStyle/>
          <a:p>
            <a:pPr algn="ctr">
              <a:lnSpc>
                <a:spcPct val="100000"/>
              </a:lnSpc>
            </a:pPr>
            <a:r>
              <a:rPr sz="1700" b="1">
                <a:solidFill>
                  <a:srgbClr val="FFFFFF"/>
                </a:solidFill>
                <a:latin typeface="Calibri"/>
              </a:rPr>
              <a:t>kịch bản kiểm thử</a:t>
            </a:r>
          </a:p>
        </p:txBody>
      </p:sp>
      <p:sp>
        <p:nvSpPr>
          <p:cNvPr id="7" name="Rounded Rectangle 6"/>
          <p:cNvSpPr/>
          <p:nvPr/>
        </p:nvSpPr>
        <p:spPr>
          <a:xfrm>
            <a:off x="7772400" y="3886200"/>
            <a:ext cx="3593592" cy="21945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b"/>
          <p:cNvSpPr txBox="1"/>
          <p:nvPr/>
        </p:nvSpPr>
        <p:spPr>
          <a:xfrm>
            <a:off x="8001000" y="4023360"/>
            <a:ext cx="3154680" cy="2011680"/>
          </a:xfrm>
          <a:prstGeom prst="rect">
            <a:avLst/>
          </a:prstGeom>
          <a:noFill/>
        </p:spPr>
        <p:txBody>
          <a:bodyPr wrap="square" lIns="0" rIns="0" tIns="0" bIns="0" anchor="t">
            <a:spAutoFit/>
          </a:bodyPr>
          <a:lstStyle/>
          <a:p>
            <a:pPr algn="l">
              <a:lnSpc>
                <a:spcPct val="100000"/>
              </a:lnSpc>
              <a:spcAft>
                <a:spcPts val="600"/>
              </a:spcAft>
            </a:pPr>
            <a:r>
              <a:rPr sz="1600" b="1">
                <a:solidFill>
                  <a:srgbClr val="044F9E"/>
                </a:solidFill>
                <a:latin typeface="Calibri"/>
              </a:rPr>
              <a:t>Phương pháp hiện tại</a:t>
            </a:r>
          </a:p>
          <a:p>
            <a:pPr algn="l">
              <a:lnSpc>
                <a:spcPct val="100000"/>
              </a:lnSpc>
              <a:spcAft>
                <a:spcPts val="600"/>
              </a:spcAft>
            </a:pPr>
            <a:r>
              <a:rPr sz="1300" b="0">
                <a:solidFill>
                  <a:srgbClr val="1F2A37"/>
                </a:solidFill>
                <a:latin typeface="Calibri"/>
              </a:rPr>
              <a:t>Rà soát và truy vết logic trên mã nguồn thật; công cụ dự kiến khi chạy thử: Swagger, Postman.</a:t>
            </a:r>
          </a:p>
          <a:p>
            <a:pPr algn="l">
              <a:lnSpc>
                <a:spcPct val="100000"/>
              </a:lnSpc>
              <a:spcAft>
                <a:spcPts val="600"/>
              </a:spcAft>
            </a:pPr>
            <a:r>
              <a:rPr sz="1300" b="1">
                <a:solidFill>
                  <a:srgbClr val="E81F26"/>
                </a:solidFill>
                <a:latin typeface="Calibri"/>
              </a:rPr>
              <a:t>Chưa có kiểm thử đơn vị và chịu tải tự động.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Quy trình triển khai</a:t>
            </a:r>
          </a:p>
        </p:txBody>
      </p:sp>
      <p:sp>
        <p:nvSpPr>
          <p:cNvPr id="3" name="Rounded Rectangle 2"/>
          <p:cNvSpPr/>
          <p:nvPr/>
        </p:nvSpPr>
        <p:spPr>
          <a:xfrm>
            <a:off x="822960" y="182880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210312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b"/>
          <p:cNvSpPr txBox="1"/>
          <p:nvPr/>
        </p:nvSpPr>
        <p:spPr>
          <a:xfrm>
            <a:off x="1097280" y="2103120"/>
            <a:ext cx="640080" cy="640080"/>
          </a:xfrm>
          <a:prstGeom prst="rect">
            <a:avLst/>
          </a:prstGeom>
          <a:noFill/>
        </p:spPr>
        <p:txBody>
          <a:bodyPr wrap="square" lIns="0" rIns="0" tIns="0" bIns="0" anchor="ctr">
            <a:spAutoFit/>
          </a:bodyPr>
          <a:lstStyle/>
          <a:p>
            <a:pPr algn="ctr">
              <a:lnSpc>
                <a:spcPct val="100000"/>
              </a:lnSpc>
            </a:pPr>
            <a:r>
              <a:rPr sz="2200" b="1">
                <a:solidFill>
                  <a:srgbClr val="FFFFFF"/>
                </a:solidFill>
                <a:latin typeface="Calibri"/>
              </a:rPr>
              <a:t>1</a:t>
            </a:r>
          </a:p>
        </p:txBody>
      </p:sp>
      <p:sp>
        <p:nvSpPr>
          <p:cNvPr id="6" name="tb"/>
          <p:cNvSpPr txBox="1"/>
          <p:nvPr/>
        </p:nvSpPr>
        <p:spPr>
          <a:xfrm>
            <a:off x="1097280" y="283464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Chuẩn bị máy chủ</a:t>
            </a:r>
          </a:p>
        </p:txBody>
      </p:sp>
      <p:sp>
        <p:nvSpPr>
          <p:cNvPr id="7" name="tb"/>
          <p:cNvSpPr txBox="1"/>
          <p:nvPr/>
        </p:nvSpPr>
        <p:spPr>
          <a:xfrm>
            <a:off x="1097280" y="3200400"/>
            <a:ext cx="2926080" cy="594360"/>
          </a:xfrm>
          <a:prstGeom prst="rect">
            <a:avLst/>
          </a:prstGeom>
          <a:noFill/>
        </p:spPr>
        <p:txBody>
          <a:bodyPr wrap="square" lIns="0" rIns="0" tIns="0" bIns="0" anchor="t">
            <a:spAutoFit/>
          </a:bodyPr>
          <a:lstStyle/>
          <a:p>
            <a:pPr algn="l">
              <a:lnSpc>
                <a:spcPct val="100000"/>
              </a:lnSpc>
            </a:pPr>
            <a:r>
              <a:rPr sz="1300" b="0">
                <a:solidFill>
                  <a:srgbClr val="5B6775"/>
                </a:solidFill>
                <a:latin typeface="Calibri"/>
              </a:rPr>
              <a:t>Cài .NET 8 và SQL Server</a:t>
            </a:r>
          </a:p>
        </p:txBody>
      </p:sp>
      <p:sp>
        <p:nvSpPr>
          <p:cNvPr id="8" name="Rounded Rectangle 7"/>
          <p:cNvSpPr/>
          <p:nvPr/>
        </p:nvSpPr>
        <p:spPr>
          <a:xfrm>
            <a:off x="4389120" y="182880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63440" y="210312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b"/>
          <p:cNvSpPr txBox="1"/>
          <p:nvPr/>
        </p:nvSpPr>
        <p:spPr>
          <a:xfrm>
            <a:off x="4663440" y="2103120"/>
            <a:ext cx="640080" cy="640080"/>
          </a:xfrm>
          <a:prstGeom prst="rect">
            <a:avLst/>
          </a:prstGeom>
          <a:noFill/>
        </p:spPr>
        <p:txBody>
          <a:bodyPr wrap="square" lIns="0" rIns="0" tIns="0" bIns="0" anchor="ctr">
            <a:spAutoFit/>
          </a:bodyPr>
          <a:lstStyle/>
          <a:p>
            <a:pPr algn="ctr">
              <a:lnSpc>
                <a:spcPct val="100000"/>
              </a:lnSpc>
            </a:pPr>
            <a:r>
              <a:rPr sz="2200" b="1">
                <a:solidFill>
                  <a:srgbClr val="FFFFFF"/>
                </a:solidFill>
                <a:latin typeface="Calibri"/>
              </a:rPr>
              <a:t>2</a:t>
            </a:r>
          </a:p>
        </p:txBody>
      </p:sp>
      <p:sp>
        <p:nvSpPr>
          <p:cNvPr id="11" name="tb"/>
          <p:cNvSpPr txBox="1"/>
          <p:nvPr/>
        </p:nvSpPr>
        <p:spPr>
          <a:xfrm>
            <a:off x="4663440" y="283464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Khởi tạo CSDL</a:t>
            </a:r>
          </a:p>
        </p:txBody>
      </p:sp>
      <p:sp>
        <p:nvSpPr>
          <p:cNvPr id="12" name="tb"/>
          <p:cNvSpPr txBox="1"/>
          <p:nvPr/>
        </p:nvSpPr>
        <p:spPr>
          <a:xfrm>
            <a:off x="4663440" y="3200400"/>
            <a:ext cx="2926080" cy="594360"/>
          </a:xfrm>
          <a:prstGeom prst="rect">
            <a:avLst/>
          </a:prstGeom>
          <a:noFill/>
        </p:spPr>
        <p:txBody>
          <a:bodyPr wrap="square" lIns="0" rIns="0" tIns="0" bIns="0" anchor="t">
            <a:spAutoFit/>
          </a:bodyPr>
          <a:lstStyle/>
          <a:p>
            <a:pPr algn="l">
              <a:lnSpc>
                <a:spcPct val="100000"/>
              </a:lnSpc>
            </a:pPr>
            <a:r>
              <a:rPr sz="1300" b="0">
                <a:solidFill>
                  <a:srgbClr val="5B6775"/>
                </a:solidFill>
                <a:latin typeface="Calibri"/>
              </a:rPr>
              <a:t>Chạy MotFileDuyNhat.sql (16 bảng, dữ liệu mẫu)</a:t>
            </a:r>
          </a:p>
        </p:txBody>
      </p:sp>
      <p:sp>
        <p:nvSpPr>
          <p:cNvPr id="13" name="Rounded Rectangle 12"/>
          <p:cNvSpPr/>
          <p:nvPr/>
        </p:nvSpPr>
        <p:spPr>
          <a:xfrm>
            <a:off x="7955279" y="182880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600" y="210312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b"/>
          <p:cNvSpPr txBox="1"/>
          <p:nvPr/>
        </p:nvSpPr>
        <p:spPr>
          <a:xfrm>
            <a:off x="8229600" y="2103120"/>
            <a:ext cx="640080" cy="640080"/>
          </a:xfrm>
          <a:prstGeom prst="rect">
            <a:avLst/>
          </a:prstGeom>
          <a:noFill/>
        </p:spPr>
        <p:txBody>
          <a:bodyPr wrap="square" lIns="0" rIns="0" tIns="0" bIns="0" anchor="ctr">
            <a:spAutoFit/>
          </a:bodyPr>
          <a:lstStyle/>
          <a:p>
            <a:pPr algn="ctr">
              <a:lnSpc>
                <a:spcPct val="100000"/>
              </a:lnSpc>
            </a:pPr>
            <a:r>
              <a:rPr sz="2200" b="1">
                <a:solidFill>
                  <a:srgbClr val="FFFFFF"/>
                </a:solidFill>
                <a:latin typeface="Calibri"/>
              </a:rPr>
              <a:t>3</a:t>
            </a:r>
          </a:p>
        </p:txBody>
      </p:sp>
      <p:sp>
        <p:nvSpPr>
          <p:cNvPr id="16" name="tb"/>
          <p:cNvSpPr txBox="1"/>
          <p:nvPr/>
        </p:nvSpPr>
        <p:spPr>
          <a:xfrm>
            <a:off x="8229600" y="283464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Cấu hình</a:t>
            </a:r>
          </a:p>
        </p:txBody>
      </p:sp>
      <p:sp>
        <p:nvSpPr>
          <p:cNvPr id="17" name="tb"/>
          <p:cNvSpPr txBox="1"/>
          <p:nvPr/>
        </p:nvSpPr>
        <p:spPr>
          <a:xfrm>
            <a:off x="8229600" y="3200400"/>
            <a:ext cx="2926080" cy="594360"/>
          </a:xfrm>
          <a:prstGeom prst="rect">
            <a:avLst/>
          </a:prstGeom>
          <a:noFill/>
        </p:spPr>
        <p:txBody>
          <a:bodyPr wrap="square" lIns="0" rIns="0" tIns="0" bIns="0" anchor="t">
            <a:spAutoFit/>
          </a:bodyPr>
          <a:lstStyle/>
          <a:p>
            <a:pPr algn="l">
              <a:lnSpc>
                <a:spcPct val="100000"/>
              </a:lnSpc>
            </a:pPr>
            <a:r>
              <a:rPr sz="1300" b="0">
                <a:solidFill>
                  <a:srgbClr val="5B6775"/>
                </a:solidFill>
                <a:latin typeface="Calibri"/>
              </a:rPr>
              <a:t>appsettings.json: kết nối, JWT, VNPay, Goong Maps</a:t>
            </a:r>
          </a:p>
        </p:txBody>
      </p:sp>
      <p:sp>
        <p:nvSpPr>
          <p:cNvPr id="18" name="Rounded Rectangle 17"/>
          <p:cNvSpPr/>
          <p:nvPr/>
        </p:nvSpPr>
        <p:spPr>
          <a:xfrm>
            <a:off x="822960" y="402336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7280" y="429768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b"/>
          <p:cNvSpPr txBox="1"/>
          <p:nvPr/>
        </p:nvSpPr>
        <p:spPr>
          <a:xfrm>
            <a:off x="1097280" y="4297680"/>
            <a:ext cx="640080" cy="640080"/>
          </a:xfrm>
          <a:prstGeom prst="rect">
            <a:avLst/>
          </a:prstGeom>
          <a:noFill/>
        </p:spPr>
        <p:txBody>
          <a:bodyPr wrap="square" lIns="0" rIns="0" tIns="0" bIns="0" anchor="ctr">
            <a:spAutoFit/>
          </a:bodyPr>
          <a:lstStyle/>
          <a:p>
            <a:pPr algn="ctr">
              <a:lnSpc>
                <a:spcPct val="100000"/>
              </a:lnSpc>
            </a:pPr>
            <a:r>
              <a:rPr sz="2200" b="1">
                <a:solidFill>
                  <a:srgbClr val="FFFFFF"/>
                </a:solidFill>
                <a:latin typeface="Calibri"/>
              </a:rPr>
              <a:t>4</a:t>
            </a:r>
          </a:p>
        </p:txBody>
      </p:sp>
      <p:sp>
        <p:nvSpPr>
          <p:cNvPr id="21" name="tb"/>
          <p:cNvSpPr txBox="1"/>
          <p:nvPr/>
        </p:nvSpPr>
        <p:spPr>
          <a:xfrm>
            <a:off x="1097280" y="502920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Chạy ứng dụng</a:t>
            </a:r>
          </a:p>
        </p:txBody>
      </p:sp>
      <p:sp>
        <p:nvSpPr>
          <p:cNvPr id="22" name="tb"/>
          <p:cNvSpPr txBox="1"/>
          <p:nvPr/>
        </p:nvSpPr>
        <p:spPr>
          <a:xfrm>
            <a:off x="1097280" y="5394960"/>
            <a:ext cx="2926080" cy="594360"/>
          </a:xfrm>
          <a:prstGeom prst="rect">
            <a:avLst/>
          </a:prstGeom>
          <a:noFill/>
        </p:spPr>
        <p:txBody>
          <a:bodyPr wrap="square" lIns="0" rIns="0" tIns="0" bIns="0" anchor="t">
            <a:spAutoFit/>
          </a:bodyPr>
          <a:lstStyle/>
          <a:p>
            <a:pPr algn="l">
              <a:lnSpc>
                <a:spcPct val="100000"/>
              </a:lnSpc>
            </a:pPr>
            <a:r>
              <a:rPr sz="1300" b="0">
                <a:solidFill>
                  <a:srgbClr val="5B6775"/>
                </a:solidFill>
                <a:latin typeface="Calibri"/>
              </a:rPr>
              <a:t>dotnet restore, dotnet run hoặc dotnet publish lên IIS</a:t>
            </a:r>
          </a:p>
        </p:txBody>
      </p:sp>
      <p:sp>
        <p:nvSpPr>
          <p:cNvPr id="23" name="Rounded Rectangle 22"/>
          <p:cNvSpPr/>
          <p:nvPr/>
        </p:nvSpPr>
        <p:spPr>
          <a:xfrm>
            <a:off x="4389120" y="402336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63440" y="4297680"/>
            <a:ext cx="640080" cy="64008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b"/>
          <p:cNvSpPr txBox="1"/>
          <p:nvPr/>
        </p:nvSpPr>
        <p:spPr>
          <a:xfrm>
            <a:off x="4663440" y="4297680"/>
            <a:ext cx="640080" cy="640080"/>
          </a:xfrm>
          <a:prstGeom prst="rect">
            <a:avLst/>
          </a:prstGeom>
          <a:noFill/>
        </p:spPr>
        <p:txBody>
          <a:bodyPr wrap="square" lIns="0" rIns="0" tIns="0" bIns="0" anchor="ctr">
            <a:spAutoFit/>
          </a:bodyPr>
          <a:lstStyle/>
          <a:p>
            <a:pPr algn="ctr">
              <a:lnSpc>
                <a:spcPct val="100000"/>
              </a:lnSpc>
            </a:pPr>
            <a:r>
              <a:rPr sz="2200" b="1">
                <a:solidFill>
                  <a:srgbClr val="FFFFFF"/>
                </a:solidFill>
                <a:latin typeface="Calibri"/>
              </a:rPr>
              <a:t>5</a:t>
            </a:r>
          </a:p>
        </p:txBody>
      </p:sp>
      <p:sp>
        <p:nvSpPr>
          <p:cNvPr id="26" name="tb"/>
          <p:cNvSpPr txBox="1"/>
          <p:nvPr/>
        </p:nvSpPr>
        <p:spPr>
          <a:xfrm>
            <a:off x="4663440" y="502920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Bảo mật kết nối</a:t>
            </a:r>
          </a:p>
        </p:txBody>
      </p:sp>
      <p:sp>
        <p:nvSpPr>
          <p:cNvPr id="27" name="tb"/>
          <p:cNvSpPr txBox="1"/>
          <p:nvPr/>
        </p:nvSpPr>
        <p:spPr>
          <a:xfrm>
            <a:off x="4663440" y="5394960"/>
            <a:ext cx="2926080" cy="594360"/>
          </a:xfrm>
          <a:prstGeom prst="rect">
            <a:avLst/>
          </a:prstGeom>
          <a:noFill/>
        </p:spPr>
        <p:txBody>
          <a:bodyPr wrap="square" lIns="0" rIns="0" tIns="0" bIns="0" anchor="t">
            <a:spAutoFit/>
          </a:bodyPr>
          <a:lstStyle/>
          <a:p>
            <a:pPr algn="l">
              <a:lnSpc>
                <a:spcPct val="100000"/>
              </a:lnSpc>
            </a:pPr>
            <a:r>
              <a:rPr sz="1300" b="0">
                <a:solidFill>
                  <a:srgbClr val="5B6775"/>
                </a:solidFill>
                <a:latin typeface="Calibri"/>
              </a:rPr>
              <a:t>Tên miền và chứng chỉ HTTPS</a:t>
            </a:r>
          </a:p>
        </p:txBody>
      </p:sp>
      <p:sp>
        <p:nvSpPr>
          <p:cNvPr id="28" name="Rounded Rectangle 27"/>
          <p:cNvSpPr/>
          <p:nvPr/>
        </p:nvSpPr>
        <p:spPr>
          <a:xfrm>
            <a:off x="7955279" y="4023360"/>
            <a:ext cx="338328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29600" y="4297680"/>
            <a:ext cx="640080" cy="64008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b"/>
          <p:cNvSpPr txBox="1"/>
          <p:nvPr/>
        </p:nvSpPr>
        <p:spPr>
          <a:xfrm>
            <a:off x="8229600" y="4297680"/>
            <a:ext cx="640080" cy="640080"/>
          </a:xfrm>
          <a:prstGeom prst="rect">
            <a:avLst/>
          </a:prstGeom>
          <a:noFill/>
        </p:spPr>
        <p:txBody>
          <a:bodyPr wrap="square" lIns="0" rIns="0" tIns="0" bIns="0" anchor="ctr">
            <a:spAutoFit/>
          </a:bodyPr>
          <a:lstStyle/>
          <a:p>
            <a:pPr algn="ctr">
              <a:lnSpc>
                <a:spcPct val="100000"/>
              </a:lnSpc>
            </a:pPr>
            <a:r>
              <a:rPr sz="2200" b="1">
                <a:solidFill>
                  <a:srgbClr val="FFFFFF"/>
                </a:solidFill>
                <a:latin typeface="Calibri"/>
              </a:rPr>
              <a:t>6</a:t>
            </a:r>
          </a:p>
        </p:txBody>
      </p:sp>
      <p:sp>
        <p:nvSpPr>
          <p:cNvPr id="31" name="tb"/>
          <p:cNvSpPr txBox="1"/>
          <p:nvPr/>
        </p:nvSpPr>
        <p:spPr>
          <a:xfrm>
            <a:off x="8229600" y="5029200"/>
            <a:ext cx="2926080" cy="36576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Kiểm tra tổng thể</a:t>
            </a:r>
          </a:p>
        </p:txBody>
      </p:sp>
      <p:sp>
        <p:nvSpPr>
          <p:cNvPr id="32" name="tb"/>
          <p:cNvSpPr txBox="1"/>
          <p:nvPr/>
        </p:nvSpPr>
        <p:spPr>
          <a:xfrm>
            <a:off x="8229600" y="5394960"/>
            <a:ext cx="2926080" cy="594360"/>
          </a:xfrm>
          <a:prstGeom prst="rect">
            <a:avLst/>
          </a:prstGeom>
          <a:noFill/>
        </p:spPr>
        <p:txBody>
          <a:bodyPr wrap="square" lIns="0" rIns="0" tIns="0" bIns="0" anchor="t">
            <a:spAutoFit/>
          </a:bodyPr>
          <a:lstStyle/>
          <a:p>
            <a:pPr algn="l">
              <a:lnSpc>
                <a:spcPct val="100000"/>
              </a:lnSpc>
            </a:pPr>
            <a:r>
              <a:rPr sz="1300" b="0">
                <a:solidFill>
                  <a:srgbClr val="5B6775"/>
                </a:solidFill>
                <a:latin typeface="Calibri"/>
              </a:rPr>
              <a:t>Smoke test: đăng nhập, đặt hàng, thanh toán, báo cáo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Đánh giá mức độ hoàn thành</a:t>
            </a:r>
          </a:p>
        </p:txBody>
      </p:sp>
      <p:sp>
        <p:nvSpPr>
          <p:cNvPr id="3" name="Rounded Rectangle 2"/>
          <p:cNvSpPr/>
          <p:nvPr/>
        </p:nvSpPr>
        <p:spPr>
          <a:xfrm>
            <a:off x="822960" y="1828800"/>
            <a:ext cx="3931920" cy="4251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828800"/>
            <a:ext cx="3931920" cy="5943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b"/>
          <p:cNvSpPr txBox="1"/>
          <p:nvPr/>
        </p:nvSpPr>
        <p:spPr>
          <a:xfrm>
            <a:off x="822960" y="1828800"/>
            <a:ext cx="3931920" cy="59436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Hoàn thành</a:t>
            </a:r>
          </a:p>
        </p:txBody>
      </p:sp>
      <p:sp>
        <p:nvSpPr>
          <p:cNvPr id="6" name="tb"/>
          <p:cNvSpPr txBox="1"/>
          <p:nvPr/>
        </p:nvSpPr>
        <p:spPr>
          <a:xfrm>
            <a:off x="1051560" y="2651760"/>
            <a:ext cx="3520439" cy="3291840"/>
          </a:xfrm>
          <a:prstGeom prst="rect">
            <a:avLst/>
          </a:prstGeom>
          <a:noFill/>
        </p:spPr>
        <p:txBody>
          <a:bodyPr wrap="square" lIns="0" rIns="0" tIns="0" bIns="0" anchor="t">
            <a:spAutoFit/>
          </a:bodyPr>
          <a:lstStyle/>
          <a:p>
            <a:pPr algn="l" marL="201168" indent="-201168">
              <a:lnSpc>
                <a:spcPct val="100000"/>
              </a:lnSpc>
              <a:spcAft>
                <a:spcPts val="800"/>
              </a:spcAft>
              <a:buChar char="•"/>
            </a:pPr>
            <a:r>
              <a:rPr sz="1400" b="0">
                <a:solidFill>
                  <a:srgbClr val="1F2A37"/>
                </a:solidFill>
                <a:latin typeface="Calibri"/>
              </a:rPr>
              <a:t>Mua hàng đầy đủ 15 chức năng</a:t>
            </a:r>
          </a:p>
          <a:p>
            <a:pPr algn="l" marL="201168" indent="-201168">
              <a:lnSpc>
                <a:spcPct val="100000"/>
              </a:lnSpc>
              <a:spcAft>
                <a:spcPts val="800"/>
              </a:spcAft>
              <a:buChar char="•"/>
            </a:pPr>
            <a:r>
              <a:rPr sz="1400" b="0">
                <a:solidFill>
                  <a:srgbClr val="1F2A37"/>
                </a:solidFill>
                <a:latin typeface="Calibri"/>
              </a:rPr>
              <a:t>Quản lý gian hàng, đơn, khuyến mãi</a:t>
            </a:r>
          </a:p>
          <a:p>
            <a:pPr algn="l" marL="201168" indent="-201168">
              <a:lnSpc>
                <a:spcPct val="100000"/>
              </a:lnSpc>
              <a:spcAft>
                <a:spcPts val="800"/>
              </a:spcAft>
              <a:buChar char="•"/>
            </a:pPr>
            <a:r>
              <a:rPr sz="1400" b="0">
                <a:solidFill>
                  <a:srgbClr val="1F2A37"/>
                </a:solidFill>
                <a:latin typeface="Calibri"/>
              </a:rPr>
              <a:t>Phân hệ tài xế: nhận đơn, giao, thu nhập</a:t>
            </a:r>
          </a:p>
          <a:p>
            <a:pPr algn="l" marL="201168" indent="-201168">
              <a:lnSpc>
                <a:spcPct val="100000"/>
              </a:lnSpc>
              <a:spcAft>
                <a:spcPts val="800"/>
              </a:spcAft>
              <a:buChar char="•"/>
            </a:pPr>
            <a:r>
              <a:rPr sz="1400" b="0">
                <a:solidFill>
                  <a:srgbClr val="1F2A37"/>
                </a:solidFill>
                <a:latin typeface="Calibri"/>
              </a:rPr>
              <a:t>Quản trị: duyệt, khóa, thống kê, sự cố, phản hồi</a:t>
            </a:r>
          </a:p>
          <a:p>
            <a:pPr algn="l" marL="201168" indent="-201168">
              <a:lnSpc>
                <a:spcPct val="100000"/>
              </a:lnSpc>
              <a:spcAft>
                <a:spcPts val="800"/>
              </a:spcAft>
              <a:buChar char="•"/>
            </a:pPr>
            <a:r>
              <a:rPr sz="1400" b="0">
                <a:solidFill>
                  <a:srgbClr val="1F2A37"/>
                </a:solidFill>
                <a:latin typeface="Calibri"/>
              </a:rPr>
              <a:t>Thanh toán tiền mặt và VNPay</a:t>
            </a:r>
          </a:p>
        </p:txBody>
      </p:sp>
      <p:sp>
        <p:nvSpPr>
          <p:cNvPr id="7" name="Rounded Rectangle 6"/>
          <p:cNvSpPr/>
          <p:nvPr/>
        </p:nvSpPr>
        <p:spPr>
          <a:xfrm>
            <a:off x="4937760" y="1828800"/>
            <a:ext cx="3200400" cy="4251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37760" y="1828800"/>
            <a:ext cx="3200400" cy="594360"/>
          </a:xfrm>
          <a:prstGeom prst="roundRect">
            <a:avLst>
              <a:gd name="adj" fmla="val 6000"/>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b"/>
          <p:cNvSpPr txBox="1"/>
          <p:nvPr/>
        </p:nvSpPr>
        <p:spPr>
          <a:xfrm>
            <a:off x="4937760" y="1828800"/>
            <a:ext cx="3200400" cy="59436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Hoàn thành một phần</a:t>
            </a:r>
          </a:p>
        </p:txBody>
      </p:sp>
      <p:sp>
        <p:nvSpPr>
          <p:cNvPr id="10" name="tb"/>
          <p:cNvSpPr txBox="1"/>
          <p:nvPr/>
        </p:nvSpPr>
        <p:spPr>
          <a:xfrm>
            <a:off x="5166360" y="2651760"/>
            <a:ext cx="2788920" cy="3291840"/>
          </a:xfrm>
          <a:prstGeom prst="rect">
            <a:avLst/>
          </a:prstGeom>
          <a:noFill/>
        </p:spPr>
        <p:txBody>
          <a:bodyPr wrap="square" lIns="0" rIns="0" tIns="0" bIns="0" anchor="t">
            <a:spAutoFit/>
          </a:bodyPr>
          <a:lstStyle/>
          <a:p>
            <a:pPr algn="l" marL="201168" indent="-201168">
              <a:lnSpc>
                <a:spcPct val="100000"/>
              </a:lnSpc>
              <a:spcAft>
                <a:spcPts val="800"/>
              </a:spcAft>
              <a:buChar char="•"/>
            </a:pPr>
            <a:r>
              <a:rPr sz="1400" b="0">
                <a:solidFill>
                  <a:srgbClr val="1F2A37"/>
                </a:solidFill>
                <a:latin typeface="Calibri"/>
              </a:rPr>
              <a:t>Momo chưa có dịch vụ tích hợp</a:t>
            </a:r>
          </a:p>
          <a:p>
            <a:pPr algn="l" marL="201168" indent="-201168">
              <a:lnSpc>
                <a:spcPct val="100000"/>
              </a:lnSpc>
              <a:spcAft>
                <a:spcPts val="800"/>
              </a:spcAft>
              <a:buChar char="•"/>
            </a:pPr>
            <a:r>
              <a:rPr sz="1400" b="0">
                <a:solidFill>
                  <a:srgbClr val="1F2A37"/>
                </a:solidFill>
                <a:latin typeface="Calibri"/>
              </a:rPr>
              <a:t>Ứng dụng MAUI của khách còn dùng dữ liệu mẫu, chưa có API riêng cho khách</a:t>
            </a:r>
          </a:p>
        </p:txBody>
      </p:sp>
      <p:sp>
        <p:nvSpPr>
          <p:cNvPr id="11" name="Rounded Rectangle 10"/>
          <p:cNvSpPr/>
          <p:nvPr/>
        </p:nvSpPr>
        <p:spPr>
          <a:xfrm>
            <a:off x="8321040" y="1828800"/>
            <a:ext cx="3200400" cy="4251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21040" y="1828800"/>
            <a:ext cx="3200400" cy="594360"/>
          </a:xfrm>
          <a:prstGeom prst="roundRect">
            <a:avLst>
              <a:gd name="adj" fmla="val 6000"/>
            </a:avLst>
          </a:prstGeom>
          <a:solidFill>
            <a:srgbClr val="E8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b"/>
          <p:cNvSpPr txBox="1"/>
          <p:nvPr/>
        </p:nvSpPr>
        <p:spPr>
          <a:xfrm>
            <a:off x="8321040" y="1828800"/>
            <a:ext cx="3200400" cy="594360"/>
          </a:xfrm>
          <a:prstGeom prst="rect">
            <a:avLst/>
          </a:prstGeom>
          <a:noFill/>
        </p:spPr>
        <p:txBody>
          <a:bodyPr wrap="square" lIns="0" rIns="0" tIns="0" bIns="0" anchor="ctr">
            <a:spAutoFit/>
          </a:bodyPr>
          <a:lstStyle/>
          <a:p>
            <a:pPr algn="ctr">
              <a:lnSpc>
                <a:spcPct val="100000"/>
              </a:lnSpc>
            </a:pPr>
            <a:r>
              <a:rPr sz="1800" b="1">
                <a:solidFill>
                  <a:srgbClr val="FFFFFF"/>
                </a:solidFill>
                <a:latin typeface="Calibri"/>
              </a:rPr>
              <a:t>Hạn chế</a:t>
            </a:r>
          </a:p>
        </p:txBody>
      </p:sp>
      <p:sp>
        <p:nvSpPr>
          <p:cNvPr id="14" name="tb"/>
          <p:cNvSpPr txBox="1"/>
          <p:nvPr/>
        </p:nvSpPr>
        <p:spPr>
          <a:xfrm>
            <a:off x="8549640" y="2651760"/>
            <a:ext cx="2788920" cy="3291840"/>
          </a:xfrm>
          <a:prstGeom prst="rect">
            <a:avLst/>
          </a:prstGeom>
          <a:noFill/>
        </p:spPr>
        <p:txBody>
          <a:bodyPr wrap="square" lIns="0" rIns="0" tIns="0" bIns="0" anchor="t">
            <a:spAutoFit/>
          </a:bodyPr>
          <a:lstStyle/>
          <a:p>
            <a:pPr algn="l" marL="201168" indent="-201168">
              <a:lnSpc>
                <a:spcPct val="100000"/>
              </a:lnSpc>
              <a:spcAft>
                <a:spcPts val="800"/>
              </a:spcAft>
              <a:buChar char="•"/>
            </a:pPr>
            <a:r>
              <a:rPr sz="1400" b="0">
                <a:solidFill>
                  <a:srgbClr val="1F2A37"/>
                </a:solidFill>
                <a:latin typeface="Calibri"/>
              </a:rPr>
              <a:t>Nhận đơn của tài xế chưa có transaction hoặc khóa dòng</a:t>
            </a:r>
          </a:p>
          <a:p>
            <a:pPr algn="l" marL="201168" indent="-201168">
              <a:lnSpc>
                <a:spcPct val="100000"/>
              </a:lnSpc>
              <a:spcAft>
                <a:spcPts val="800"/>
              </a:spcAft>
              <a:buChar char="•"/>
            </a:pPr>
            <a:r>
              <a:rPr sz="1400" b="0">
                <a:solidFill>
                  <a:srgbClr val="1F2A37"/>
                </a:solidFill>
                <a:latin typeface="Calibri"/>
              </a:rPr>
              <a:t>Giỏ hàng chỉ chứa món của một gian hàng</a:t>
            </a:r>
          </a:p>
          <a:p>
            <a:pPr algn="l" marL="201168" indent="-201168">
              <a:lnSpc>
                <a:spcPct val="100000"/>
              </a:lnSpc>
              <a:spcAft>
                <a:spcPts val="800"/>
              </a:spcAft>
              <a:buChar char="•"/>
            </a:pPr>
            <a:r>
              <a:rPr sz="1400" b="0">
                <a:solidFill>
                  <a:srgbClr val="1F2A37"/>
                </a:solidFill>
                <a:latin typeface="Calibri"/>
              </a:rPr>
              <a:t>Chưa có kiểm thử đơn vị, chịu tải</a:t>
            </a:r>
          </a:p>
          <a:p>
            <a:pPr algn="l" marL="201168" indent="-201168">
              <a:lnSpc>
                <a:spcPct val="100000"/>
              </a:lnSpc>
              <a:spcAft>
                <a:spcPts val="800"/>
              </a:spcAft>
              <a:buChar char="•"/>
            </a:pPr>
            <a:r>
              <a:rPr sz="1400" b="0">
                <a:solidFill>
                  <a:srgbClr val="1F2A37"/>
                </a:solidFill>
                <a:latin typeface="Calibri"/>
              </a:rPr>
              <a:t>Chưa triển khai lên máy chủ thật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896112"/>
            <a:ext cx="10515600" cy="731520"/>
          </a:xfrm>
        </p:spPr>
        <p:txBody>
          <a:bodyPr anchor="ctr"/>
          <a:lstStyle/>
          <a:p>
            <a:r>
              <a:rPr sz="3200" b="1">
                <a:solidFill>
                  <a:srgbClr val="044F9E"/>
                </a:solidFill>
                <a:latin typeface="Calibri"/>
              </a:rPr>
              <a:t>Hướng phát triển</a:t>
            </a:r>
          </a:p>
        </p:txBody>
      </p:sp>
      <p:sp>
        <p:nvSpPr>
          <p:cNvPr id="3" name="Rounded Rectangle 2"/>
          <p:cNvSpPr/>
          <p:nvPr/>
        </p:nvSpPr>
        <p:spPr>
          <a:xfrm>
            <a:off x="822960" y="182880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2103120"/>
            <a:ext cx="731520" cy="73152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obile_w.png"/>
          <p:cNvPicPr>
            <a:picLocks noChangeAspect="1"/>
          </p:cNvPicPr>
          <p:nvPr/>
        </p:nvPicPr>
        <p:blipFill>
          <a:blip r:embed="rId3"/>
          <a:stretch>
            <a:fillRect/>
          </a:stretch>
        </p:blipFill>
        <p:spPr>
          <a:xfrm>
            <a:off x="1280160" y="2286000"/>
            <a:ext cx="365760" cy="365760"/>
          </a:xfrm>
          <a:prstGeom prst="rect">
            <a:avLst/>
          </a:prstGeom>
        </p:spPr>
      </p:pic>
      <p:sp>
        <p:nvSpPr>
          <p:cNvPr id="6" name="tb"/>
          <p:cNvSpPr txBox="1"/>
          <p:nvPr/>
        </p:nvSpPr>
        <p:spPr>
          <a:xfrm>
            <a:off x="2103120" y="2057400"/>
            <a:ext cx="3703320" cy="45720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Hoàn thiện ứng dụng di động</a:t>
            </a:r>
          </a:p>
        </p:txBody>
      </p:sp>
      <p:sp>
        <p:nvSpPr>
          <p:cNvPr id="7" name="tb"/>
          <p:cNvSpPr txBox="1"/>
          <p:nvPr/>
        </p:nvSpPr>
        <p:spPr>
          <a:xfrm>
            <a:off x="2103120" y="2606040"/>
            <a:ext cx="3703320" cy="114300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API riêng cho khách hàng, thông báo đẩy khi đổi trạng thái đơn</a:t>
            </a:r>
          </a:p>
        </p:txBody>
      </p:sp>
      <p:sp>
        <p:nvSpPr>
          <p:cNvPr id="8" name="Rounded Rectangle 7"/>
          <p:cNvSpPr/>
          <p:nvPr/>
        </p:nvSpPr>
        <p:spPr>
          <a:xfrm>
            <a:off x="6172200" y="182880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2103120"/>
            <a:ext cx="731520" cy="73152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ard_w.png"/>
          <p:cNvPicPr>
            <a:picLocks noChangeAspect="1"/>
          </p:cNvPicPr>
          <p:nvPr/>
        </p:nvPicPr>
        <p:blipFill>
          <a:blip r:embed="rId4"/>
          <a:stretch>
            <a:fillRect/>
          </a:stretch>
        </p:blipFill>
        <p:spPr>
          <a:xfrm>
            <a:off x="6629400" y="2286000"/>
            <a:ext cx="365760" cy="365760"/>
          </a:xfrm>
          <a:prstGeom prst="rect">
            <a:avLst/>
          </a:prstGeom>
        </p:spPr>
      </p:pic>
      <p:sp>
        <p:nvSpPr>
          <p:cNvPr id="11" name="tb"/>
          <p:cNvSpPr txBox="1"/>
          <p:nvPr/>
        </p:nvSpPr>
        <p:spPr>
          <a:xfrm>
            <a:off x="7452360" y="2057400"/>
            <a:ext cx="3703320" cy="45720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Mở rộng thanh toán</a:t>
            </a:r>
          </a:p>
        </p:txBody>
      </p:sp>
      <p:sp>
        <p:nvSpPr>
          <p:cNvPr id="12" name="tb"/>
          <p:cNvSpPr txBox="1"/>
          <p:nvPr/>
        </p:nvSpPr>
        <p:spPr>
          <a:xfrm>
            <a:off x="7452360" y="2606040"/>
            <a:ext cx="3703320" cy="114300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Thêm Momo, ZaloPay; hoàn tiền tự động qua cổng thanh toán</a:t>
            </a:r>
          </a:p>
        </p:txBody>
      </p:sp>
      <p:sp>
        <p:nvSpPr>
          <p:cNvPr id="13" name="Rounded Rectangle 12"/>
          <p:cNvSpPr/>
          <p:nvPr/>
        </p:nvSpPr>
        <p:spPr>
          <a:xfrm>
            <a:off x="822960" y="402336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97280" y="4297680"/>
            <a:ext cx="731520" cy="731520"/>
          </a:xfrm>
          <a:prstGeom prst="ellipse">
            <a:avLst/>
          </a:prstGeom>
          <a:solidFill>
            <a:srgbClr val="04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lask_w.png"/>
          <p:cNvPicPr>
            <a:picLocks noChangeAspect="1"/>
          </p:cNvPicPr>
          <p:nvPr/>
        </p:nvPicPr>
        <p:blipFill>
          <a:blip r:embed="rId5"/>
          <a:stretch>
            <a:fillRect/>
          </a:stretch>
        </p:blipFill>
        <p:spPr>
          <a:xfrm>
            <a:off x="1280160" y="4480560"/>
            <a:ext cx="365760" cy="365760"/>
          </a:xfrm>
          <a:prstGeom prst="rect">
            <a:avLst/>
          </a:prstGeom>
        </p:spPr>
      </p:pic>
      <p:sp>
        <p:nvSpPr>
          <p:cNvPr id="16" name="tb"/>
          <p:cNvSpPr txBox="1"/>
          <p:nvPr/>
        </p:nvSpPr>
        <p:spPr>
          <a:xfrm>
            <a:off x="2103120" y="4251960"/>
            <a:ext cx="3703320" cy="45720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Nâng chất lượng kỹ thuật</a:t>
            </a:r>
          </a:p>
        </p:txBody>
      </p:sp>
      <p:sp>
        <p:nvSpPr>
          <p:cNvPr id="17" name="tb"/>
          <p:cNvSpPr txBox="1"/>
          <p:nvPr/>
        </p:nvSpPr>
        <p:spPr>
          <a:xfrm>
            <a:off x="2103120" y="4800600"/>
            <a:ext cx="3703320" cy="114300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Kiểm thử đơn vị và tích hợp tự động, transaction khi nhận đơn, EF Core Migrations</a:t>
            </a:r>
          </a:p>
        </p:txBody>
      </p:sp>
      <p:sp>
        <p:nvSpPr>
          <p:cNvPr id="18" name="Rounded Rectangle 17"/>
          <p:cNvSpPr/>
          <p:nvPr/>
        </p:nvSpPr>
        <p:spPr>
          <a:xfrm>
            <a:off x="6172200" y="4023360"/>
            <a:ext cx="5166360" cy="201168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46520" y="4297680"/>
            <a:ext cx="731520" cy="731520"/>
          </a:xfrm>
          <a:prstGeom prst="ellipse">
            <a:avLst/>
          </a:prstGeom>
          <a:solidFill>
            <a:srgbClr val="207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ulb_w.png"/>
          <p:cNvPicPr>
            <a:picLocks noChangeAspect="1"/>
          </p:cNvPicPr>
          <p:nvPr/>
        </p:nvPicPr>
        <p:blipFill>
          <a:blip r:embed="rId6"/>
          <a:stretch>
            <a:fillRect/>
          </a:stretch>
        </p:blipFill>
        <p:spPr>
          <a:xfrm>
            <a:off x="6629400" y="4480560"/>
            <a:ext cx="365760" cy="365760"/>
          </a:xfrm>
          <a:prstGeom prst="rect">
            <a:avLst/>
          </a:prstGeom>
        </p:spPr>
      </p:pic>
      <p:sp>
        <p:nvSpPr>
          <p:cNvPr id="21" name="tb"/>
          <p:cNvSpPr txBox="1"/>
          <p:nvPr/>
        </p:nvSpPr>
        <p:spPr>
          <a:xfrm>
            <a:off x="7452360" y="4251960"/>
            <a:ext cx="3703320" cy="457200"/>
          </a:xfrm>
          <a:prstGeom prst="rect">
            <a:avLst/>
          </a:prstGeom>
          <a:noFill/>
        </p:spPr>
        <p:txBody>
          <a:bodyPr wrap="square" lIns="0" rIns="0" tIns="0" bIns="0" anchor="t">
            <a:spAutoFit/>
          </a:bodyPr>
          <a:lstStyle/>
          <a:p>
            <a:pPr algn="l">
              <a:lnSpc>
                <a:spcPct val="100000"/>
              </a:lnSpc>
            </a:pPr>
            <a:r>
              <a:rPr sz="1800" b="1">
                <a:solidFill>
                  <a:srgbClr val="044F9E"/>
                </a:solidFill>
                <a:latin typeface="Calibri"/>
              </a:rPr>
              <a:t>Tính năng mới</a:t>
            </a:r>
          </a:p>
        </p:txBody>
      </p:sp>
      <p:sp>
        <p:nvSpPr>
          <p:cNvPr id="22" name="tb"/>
          <p:cNvSpPr txBox="1"/>
          <p:nvPr/>
        </p:nvSpPr>
        <p:spPr>
          <a:xfrm>
            <a:off x="7452360" y="4800600"/>
            <a:ext cx="3703320" cy="1143000"/>
          </a:xfrm>
          <a:prstGeom prst="rect">
            <a:avLst/>
          </a:prstGeom>
          <a:noFill/>
        </p:spPr>
        <p:txBody>
          <a:bodyPr wrap="square" lIns="0" rIns="0" tIns="0" bIns="0" anchor="t">
            <a:spAutoFit/>
          </a:bodyPr>
          <a:lstStyle/>
          <a:p>
            <a:pPr algn="l">
              <a:lnSpc>
                <a:spcPct val="100000"/>
              </a:lnSpc>
            </a:pPr>
            <a:r>
              <a:rPr sz="1400" b="0">
                <a:solidFill>
                  <a:srgbClr val="1F2A37"/>
                </a:solidFill>
                <a:latin typeface="Calibri"/>
              </a:rPr>
              <a:t>Chia sẻ doanh thu giữa nền tảng, gian hàng, tài xế; gợi ý món theo hành vi; tìm gian hàng theo vị trí</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b"/>
          <p:cNvSpPr txBox="1"/>
          <p:nvPr/>
        </p:nvSpPr>
        <p:spPr>
          <a:xfrm>
            <a:off x="914400" y="1554480"/>
            <a:ext cx="10360152" cy="1097280"/>
          </a:xfrm>
          <a:prstGeom prst="rect">
            <a:avLst/>
          </a:prstGeom>
          <a:noFill/>
        </p:spPr>
        <p:txBody>
          <a:bodyPr wrap="square" lIns="0" rIns="0" tIns="0" bIns="0" anchor="ctr">
            <a:spAutoFit/>
          </a:bodyPr>
          <a:lstStyle/>
          <a:p>
            <a:pPr algn="ctr">
              <a:lnSpc>
                <a:spcPct val="100000"/>
              </a:lnSpc>
            </a:pPr>
            <a:r>
              <a:rPr sz="4400" b="1">
                <a:solidFill>
                  <a:srgbClr val="044F9E"/>
                </a:solidFill>
                <a:latin typeface="Calibri"/>
              </a:rPr>
              <a:t>XIN CẢM ƠN QUÝ THẦY CÔ</a:t>
            </a:r>
          </a:p>
        </p:txBody>
      </p:sp>
      <p:sp>
        <p:nvSpPr>
          <p:cNvPr id="3" name="tb"/>
          <p:cNvSpPr txBox="1"/>
          <p:nvPr/>
        </p:nvSpPr>
        <p:spPr>
          <a:xfrm>
            <a:off x="914400" y="2743200"/>
            <a:ext cx="10360152" cy="548640"/>
          </a:xfrm>
          <a:prstGeom prst="rect">
            <a:avLst/>
          </a:prstGeom>
          <a:noFill/>
        </p:spPr>
        <p:txBody>
          <a:bodyPr wrap="square" lIns="0" rIns="0" tIns="0" bIns="0" anchor="t">
            <a:spAutoFit/>
          </a:bodyPr>
          <a:lstStyle/>
          <a:p>
            <a:pPr algn="ctr">
              <a:lnSpc>
                <a:spcPct val="100000"/>
              </a:lnSpc>
            </a:pPr>
            <a:r>
              <a:rPr sz="2400" b="0">
                <a:solidFill>
                  <a:srgbClr val="2072B7"/>
                </a:solidFill>
                <a:latin typeface="Calibri"/>
              </a:rPr>
              <a:t>đã lắng nghe</a:t>
            </a:r>
          </a:p>
        </p:txBody>
      </p:sp>
      <p:sp>
        <p:nvSpPr>
          <p:cNvPr id="4" name="tb"/>
          <p:cNvSpPr txBox="1"/>
          <p:nvPr/>
        </p:nvSpPr>
        <p:spPr>
          <a:xfrm>
            <a:off x="914400" y="3566160"/>
            <a:ext cx="10360152" cy="548640"/>
          </a:xfrm>
          <a:prstGeom prst="rect">
            <a:avLst/>
          </a:prstGeom>
          <a:noFill/>
        </p:spPr>
        <p:txBody>
          <a:bodyPr wrap="square" lIns="0" rIns="0" tIns="0" bIns="0" anchor="t">
            <a:spAutoFit/>
          </a:bodyPr>
          <a:lstStyle/>
          <a:p>
            <a:pPr algn="ctr">
              <a:lnSpc>
                <a:spcPct val="100000"/>
              </a:lnSpc>
            </a:pPr>
            <a:r>
              <a:rPr sz="1800" b="0">
                <a:solidFill>
                  <a:srgbClr val="5B6775"/>
                </a:solidFill>
                <a:latin typeface="Calibri"/>
              </a:rPr>
              <a:t>Nhóm sinh viên rất mong nhận được ý kiến đóng góp</a:t>
            </a:r>
          </a:p>
        </p:txBody>
      </p:sp>
    </p:spTree>
  </p:cSld>
  <p:clrMapOvr>
    <a:masterClrMapping/>
  </p:clrMapOvr>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49</Words>
  <Application>Microsoft Office PowerPoint</Application>
  <PresentationFormat>Widescreen</PresentationFormat>
  <Paragraphs>8</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Myriad Pro</vt:lpstr>
      <vt:lpstr>1_Office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Hai</dc:creator>
  <cp:lastModifiedBy>Nguyen Hai</cp:lastModifiedBy>
  <cp:revision>1</cp:revision>
  <dcterms:created xsi:type="dcterms:W3CDTF">2026-08-11T04:37:59Z</dcterms:created>
  <dcterms:modified xsi:type="dcterms:W3CDTF">2026-08-11T04:41:58Z</dcterms:modified>
</cp:coreProperties>
</file>